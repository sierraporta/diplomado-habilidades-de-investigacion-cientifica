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8" r:id="rId1"/>
  </p:sldMasterIdLst>
  <p:notesMasterIdLst>
    <p:notesMasterId r:id="rId35"/>
  </p:notesMasterIdLst>
  <p:sldIdLst>
    <p:sldId id="256" r:id="rId2"/>
    <p:sldId id="257" r:id="rId3"/>
    <p:sldId id="258" r:id="rId4"/>
    <p:sldId id="286" r:id="rId5"/>
    <p:sldId id="280" r:id="rId6"/>
    <p:sldId id="282" r:id="rId7"/>
    <p:sldId id="281" r:id="rId8"/>
    <p:sldId id="283" r:id="rId9"/>
    <p:sldId id="284" r:id="rId10"/>
    <p:sldId id="285" r:id="rId11"/>
    <p:sldId id="259" r:id="rId12"/>
    <p:sldId id="260" r:id="rId13"/>
    <p:sldId id="263" r:id="rId14"/>
    <p:sldId id="261" r:id="rId15"/>
    <p:sldId id="264" r:id="rId16"/>
    <p:sldId id="265" r:id="rId17"/>
    <p:sldId id="266" r:id="rId18"/>
    <p:sldId id="267" r:id="rId19"/>
    <p:sldId id="271" r:id="rId20"/>
    <p:sldId id="268" r:id="rId21"/>
    <p:sldId id="269" r:id="rId22"/>
    <p:sldId id="270" r:id="rId23"/>
    <p:sldId id="262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87" r:id="rId32"/>
    <p:sldId id="279" r:id="rId33"/>
    <p:sldId id="288" r:id="rId34"/>
  </p:sldIdLst>
  <p:sldSz cx="12192000" cy="6858000"/>
  <p:notesSz cx="6858000" cy="9144000"/>
  <p:defaultTextStyle>
    <a:defPPr>
      <a:defRPr lang="en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80"/>
    <p:restoredTop sz="94726"/>
  </p:normalViewPr>
  <p:slideViewPr>
    <p:cSldViewPr snapToGrid="0">
      <p:cViewPr varScale="1">
        <p:scale>
          <a:sx n="111" d="100"/>
          <a:sy n="111" d="100"/>
        </p:scale>
        <p:origin x="248" y="392"/>
      </p:cViewPr>
      <p:guideLst/>
    </p:cSldViewPr>
  </p:slideViewPr>
  <p:outlineViewPr>
    <p:cViewPr>
      <p:scale>
        <a:sx n="33" d="100"/>
        <a:sy n="33" d="100"/>
      </p:scale>
      <p:origin x="0" y="-312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D048D-1411-AD44-A1C6-9CB91F732490}" type="datetimeFigureOut">
              <a:rPr lang="en-CO" smtClean="0"/>
              <a:t>4/09/26</a:t>
            </a:fld>
            <a:endParaRPr lang="en-C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D50DE-7CC1-2946-962F-62D29F315539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012957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9D50DE-7CC1-2946-962F-62D29F315539}" type="slidenum">
              <a:rPr lang="en-CO" smtClean="0"/>
              <a:t>30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197261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283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590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502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122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550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7485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105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492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30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163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017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9/4/26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69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7" r:id="rId6"/>
    <p:sldLayoutId id="2147483782" r:id="rId7"/>
    <p:sldLayoutId id="2147483783" r:id="rId8"/>
    <p:sldLayoutId id="2147483784" r:id="rId9"/>
    <p:sldLayoutId id="2147483786" r:id="rId10"/>
    <p:sldLayoutId id="214748378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sierraporta.github.io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s://www.youtube.com/watch?v=gar9yD_-zEk&amp;t=8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gyankosh.ac.in/bitstream/123456789/39224/1/Unit-1.pdf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qGBZWbg_26A?si=pGLFRGYjGMw0EFM0" TargetMode="Externa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F0CAFDA3-320A-C24D-A7A1-20C1267EC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231D73A-BA91-794F-8C09-4F4B41A6D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ircular pattern with dots and lines&#10;&#10;AI-generated content may be incorrect.">
            <a:extLst>
              <a:ext uri="{FF2B5EF4-FFF2-40B4-BE49-F238E27FC236}">
                <a16:creationId xmlns:a16="http://schemas.microsoft.com/office/drawing/2014/main" id="{76EEA771-E718-B879-6B35-4B99FB40FF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7" name="Rectangle">
            <a:extLst>
              <a:ext uri="{FF2B5EF4-FFF2-40B4-BE49-F238E27FC236}">
                <a16:creationId xmlns:a16="http://schemas.microsoft.com/office/drawing/2014/main" id="{14ACB00F-615E-0E4F-9794-329E08F6E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8469492" cy="6858000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77D5C-610B-1047-9A24-2163715FB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020" y="806362"/>
            <a:ext cx="9239692" cy="22967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 err="1"/>
              <a:t>Formulación</a:t>
            </a:r>
            <a:r>
              <a:rPr lang="en-US" sz="4800" dirty="0"/>
              <a:t> de </a:t>
            </a:r>
            <a:r>
              <a:rPr lang="en-US" sz="4800" dirty="0" err="1"/>
              <a:t>Proyectos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CF9DAF-B27B-9FB5-3783-CFABD41CA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2160016"/>
            <a:ext cx="7335835" cy="36012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b="1" i="1" dirty="0" err="1"/>
              <a:t>Diplomado</a:t>
            </a:r>
            <a:r>
              <a:rPr lang="en-US" sz="2400" b="1" i="1" dirty="0"/>
              <a:t> </a:t>
            </a:r>
            <a:r>
              <a:rPr lang="en-US" sz="2400" b="1" i="1" dirty="0" err="1"/>
              <a:t>en</a:t>
            </a:r>
            <a:r>
              <a:rPr lang="en-US" sz="2400" b="1" i="1" dirty="0"/>
              <a:t> </a:t>
            </a:r>
            <a:r>
              <a:rPr lang="en-US" sz="2400" b="1" i="1" dirty="0" err="1"/>
              <a:t>Habilidades</a:t>
            </a:r>
            <a:r>
              <a:rPr lang="en-US" sz="2400" b="1" i="1" dirty="0"/>
              <a:t> de </a:t>
            </a:r>
            <a:r>
              <a:rPr lang="en-US" sz="2400" b="1" i="1" dirty="0" err="1"/>
              <a:t>Investigación</a:t>
            </a:r>
            <a:endParaRPr lang="en-US" sz="2400" b="1" i="1" dirty="0"/>
          </a:p>
          <a:p>
            <a:r>
              <a:rPr lang="en-US" sz="2400" b="1" i="1" dirty="0"/>
              <a:t>UTB - </a:t>
            </a:r>
            <a:r>
              <a:rPr lang="en-US" sz="2400" b="1" i="1" dirty="0" err="1"/>
              <a:t>Semilleros</a:t>
            </a:r>
            <a:r>
              <a:rPr lang="en-US" sz="2400" b="1" i="1" dirty="0"/>
              <a:t> de </a:t>
            </a:r>
            <a:r>
              <a:rPr lang="en-US" sz="2400" b="1" i="1" dirty="0" err="1"/>
              <a:t>Investigación</a:t>
            </a:r>
            <a:endParaRPr lang="en-US" sz="2400" b="1" i="1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i="1" dirty="0"/>
              <a:t>D. Sierra-Porta</a:t>
            </a:r>
          </a:p>
          <a:p>
            <a:r>
              <a:rPr lang="en-US" i="1" dirty="0"/>
              <a:t>Universidad </a:t>
            </a:r>
            <a:r>
              <a:rPr lang="en-US" i="1" dirty="0" err="1"/>
              <a:t>Tecnológica</a:t>
            </a:r>
            <a:r>
              <a:rPr lang="en-US" i="1" dirty="0"/>
              <a:t> de Bolívar, Sept 2026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D2BBFA3-6EA8-1C48-B3A5-DFCC389D2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5B55452-0B37-B747-9C68-70C4EF8F7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52" name="Freeform 41">
              <a:extLst>
                <a:ext uri="{FF2B5EF4-FFF2-40B4-BE49-F238E27FC236}">
                  <a16:creationId xmlns:a16="http://schemas.microsoft.com/office/drawing/2014/main" id="{CBBA7287-7E9D-884B-93D7-D56B52ADE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42">
              <a:extLst>
                <a:ext uri="{FF2B5EF4-FFF2-40B4-BE49-F238E27FC236}">
                  <a16:creationId xmlns:a16="http://schemas.microsoft.com/office/drawing/2014/main" id="{E09BD6CA-D4FC-1041-9A4A-5BD33DDEDE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43">
              <a:extLst>
                <a:ext uri="{FF2B5EF4-FFF2-40B4-BE49-F238E27FC236}">
                  <a16:creationId xmlns:a16="http://schemas.microsoft.com/office/drawing/2014/main" id="{60AFCEEC-E747-AF48-9591-58C67AF87A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Freeform 44">
              <a:extLst>
                <a:ext uri="{FF2B5EF4-FFF2-40B4-BE49-F238E27FC236}">
                  <a16:creationId xmlns:a16="http://schemas.microsoft.com/office/drawing/2014/main" id="{2290DF32-70FD-0E48-9258-0BD83EE622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reeform 45">
              <a:extLst>
                <a:ext uri="{FF2B5EF4-FFF2-40B4-BE49-F238E27FC236}">
                  <a16:creationId xmlns:a16="http://schemas.microsoft.com/office/drawing/2014/main" id="{61BFE2D7-8646-5943-87D5-C6A9CDF68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 46">
              <a:extLst>
                <a:ext uri="{FF2B5EF4-FFF2-40B4-BE49-F238E27FC236}">
                  <a16:creationId xmlns:a16="http://schemas.microsoft.com/office/drawing/2014/main" id="{6FFCD48C-239D-ED44-879B-9E5DD00DE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47">
              <a:extLst>
                <a:ext uri="{FF2B5EF4-FFF2-40B4-BE49-F238E27FC236}">
                  <a16:creationId xmlns:a16="http://schemas.microsoft.com/office/drawing/2014/main" id="{55CCAE64-959A-BC4A-A123-FC9283192D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028" name="Picture 4" descr="Gracias Landing">
            <a:extLst>
              <a:ext uri="{FF2B5EF4-FFF2-40B4-BE49-F238E27FC236}">
                <a16:creationId xmlns:a16="http://schemas.microsoft.com/office/drawing/2014/main" id="{D3C5ACC1-80B1-095A-CB15-D73A7106C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777" y="4612220"/>
            <a:ext cx="2205936" cy="60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scuela de Transformación Digital - UTB">
            <a:extLst>
              <a:ext uri="{FF2B5EF4-FFF2-40B4-BE49-F238E27FC236}">
                <a16:creationId xmlns:a16="http://schemas.microsoft.com/office/drawing/2014/main" id="{FC08E667-7B5B-2C55-B42E-AF093801E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378" y="5432125"/>
            <a:ext cx="2805691" cy="91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98439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0" name="Rectangle 2079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0E9635-4305-B8B9-2378-404A6246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60" cy="1268984"/>
          </a:xfrm>
        </p:spPr>
        <p:txBody>
          <a:bodyPr>
            <a:normAutofit/>
          </a:bodyPr>
          <a:lstStyle/>
          <a:p>
            <a:r>
              <a:rPr lang="en-CO" dirty="0"/>
              <a:t>Un poco de mi…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18C43-FE73-C6A8-EAF3-8A740A65E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48" y="1810771"/>
            <a:ext cx="4981283" cy="450544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1700" b="1" dirty="0">
                <a:cs typeface="Muna" pitchFamily="2" charset="-78"/>
              </a:rPr>
              <a:t>Dr. David Sierra-Porta</a:t>
            </a:r>
          </a:p>
          <a:p>
            <a:pPr>
              <a:lnSpc>
                <a:spcPct val="90000"/>
              </a:lnSpc>
            </a:pPr>
            <a:r>
              <a:rPr lang="en-US" sz="1700" dirty="0" err="1">
                <a:cs typeface="Muna" pitchFamily="2" charset="-78"/>
              </a:rPr>
              <a:t>Profesor</a:t>
            </a:r>
            <a:r>
              <a:rPr lang="en-US" sz="1700" dirty="0">
                <a:cs typeface="Muna" pitchFamily="2" charset="-78"/>
              </a:rPr>
              <a:t> e </a:t>
            </a:r>
            <a:r>
              <a:rPr lang="en-US" sz="1700" dirty="0" err="1">
                <a:cs typeface="Muna" pitchFamily="2" charset="-78"/>
              </a:rPr>
              <a:t>investigador</a:t>
            </a:r>
            <a:r>
              <a:rPr lang="en-US" sz="1700" dirty="0">
                <a:cs typeface="Muna" pitchFamily="2" charset="-78"/>
              </a:rPr>
              <a:t> UTB - ETD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1700" i="1" dirty="0">
                <a:cs typeface="Muna" pitchFamily="2" charset="-78"/>
              </a:rPr>
              <a:t>Director del </a:t>
            </a:r>
            <a:r>
              <a:rPr lang="en-US" sz="1700" i="1" dirty="0" err="1">
                <a:cs typeface="Muna" pitchFamily="2" charset="-78"/>
              </a:rPr>
              <a:t>programa</a:t>
            </a:r>
            <a:r>
              <a:rPr lang="en-US" sz="1700" i="1" dirty="0">
                <a:cs typeface="Muna" pitchFamily="2" charset="-78"/>
              </a:rPr>
              <a:t> de Ciencia de Datos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1700" i="1" dirty="0">
                <a:cs typeface="Muna" pitchFamily="2" charset="-78"/>
              </a:rPr>
              <a:t>Director de la </a:t>
            </a:r>
            <a:r>
              <a:rPr lang="en-US" sz="1700" i="1" dirty="0" err="1">
                <a:cs typeface="Muna" pitchFamily="2" charset="-78"/>
              </a:rPr>
              <a:t>Maestría</a:t>
            </a:r>
            <a:r>
              <a:rPr lang="en-US" sz="1700" i="1" dirty="0">
                <a:cs typeface="Muna" pitchFamily="2" charset="-78"/>
              </a:rPr>
              <a:t> </a:t>
            </a:r>
            <a:r>
              <a:rPr lang="en-US" sz="1700" i="1" dirty="0" err="1">
                <a:cs typeface="Muna" pitchFamily="2" charset="-78"/>
              </a:rPr>
              <a:t>en</a:t>
            </a:r>
            <a:r>
              <a:rPr lang="en-US" sz="1700" i="1" dirty="0">
                <a:cs typeface="Muna" pitchFamily="2" charset="-78"/>
              </a:rPr>
              <a:t> </a:t>
            </a:r>
            <a:r>
              <a:rPr lang="en-US" sz="1700" i="1" dirty="0" err="1">
                <a:cs typeface="Muna" pitchFamily="2" charset="-78"/>
              </a:rPr>
              <a:t>Estadística</a:t>
            </a:r>
            <a:r>
              <a:rPr lang="en-US" sz="1700" i="1" dirty="0">
                <a:cs typeface="Muna" pitchFamily="2" charset="-78"/>
              </a:rPr>
              <a:t> </a:t>
            </a:r>
            <a:r>
              <a:rPr lang="en-US" sz="1700" i="1" dirty="0" err="1">
                <a:cs typeface="Muna" pitchFamily="2" charset="-78"/>
              </a:rPr>
              <a:t>Aplicada</a:t>
            </a:r>
            <a:r>
              <a:rPr lang="en-US" sz="1700" i="1" dirty="0">
                <a:cs typeface="Muna" pitchFamily="2" charset="-78"/>
              </a:rPr>
              <a:t> y Ciencia de Datos y la </a:t>
            </a:r>
            <a:r>
              <a:rPr lang="en-US" sz="1700" i="1" dirty="0" err="1">
                <a:cs typeface="Muna" pitchFamily="2" charset="-78"/>
              </a:rPr>
              <a:t>Especialización</a:t>
            </a:r>
            <a:r>
              <a:rPr lang="en-US" sz="1700" i="1" dirty="0">
                <a:cs typeface="Muna" pitchFamily="2" charset="-78"/>
              </a:rPr>
              <a:t> </a:t>
            </a:r>
            <a:r>
              <a:rPr lang="en-US" sz="1700" i="1" dirty="0" err="1">
                <a:cs typeface="Muna" pitchFamily="2" charset="-78"/>
              </a:rPr>
              <a:t>en</a:t>
            </a:r>
            <a:r>
              <a:rPr lang="en-US" sz="1700" i="1" dirty="0">
                <a:cs typeface="Muna" pitchFamily="2" charset="-78"/>
              </a:rPr>
              <a:t> </a:t>
            </a:r>
            <a:r>
              <a:rPr lang="en-US" sz="1700" i="1" dirty="0" err="1">
                <a:cs typeface="Muna" pitchFamily="2" charset="-78"/>
              </a:rPr>
              <a:t>Estadística</a:t>
            </a:r>
            <a:r>
              <a:rPr lang="en-US" sz="1700" i="1" dirty="0">
                <a:cs typeface="Muna" pitchFamily="2" charset="-78"/>
              </a:rPr>
              <a:t> </a:t>
            </a:r>
            <a:r>
              <a:rPr lang="en-US" sz="1700" i="1" dirty="0" err="1">
                <a:cs typeface="Muna" pitchFamily="2" charset="-78"/>
              </a:rPr>
              <a:t>Aplicada</a:t>
            </a:r>
            <a:r>
              <a:rPr lang="en-US" sz="1700" i="1" dirty="0">
                <a:cs typeface="Muna" pitchFamily="2" charset="-78"/>
              </a:rPr>
              <a:t>.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1700" i="1" dirty="0">
                <a:cs typeface="Muna" pitchFamily="2" charset="-78"/>
              </a:rPr>
              <a:t>Lider </a:t>
            </a:r>
            <a:r>
              <a:rPr lang="en-US" sz="1700" i="1" dirty="0" err="1">
                <a:cs typeface="Muna" pitchFamily="2" charset="-78"/>
              </a:rPr>
              <a:t>Semillero</a:t>
            </a:r>
            <a:r>
              <a:rPr lang="en-US" sz="1700" i="1" dirty="0">
                <a:cs typeface="Muna" pitchFamily="2" charset="-78"/>
              </a:rPr>
              <a:t> de </a:t>
            </a:r>
            <a:r>
              <a:rPr lang="en-US" sz="1700" i="1" dirty="0" err="1">
                <a:cs typeface="Muna" pitchFamily="2" charset="-78"/>
              </a:rPr>
              <a:t>Astronomía</a:t>
            </a:r>
            <a:r>
              <a:rPr lang="en-US" sz="1700" i="1" dirty="0">
                <a:cs typeface="Muna" pitchFamily="2" charset="-78"/>
              </a:rPr>
              <a:t> y Ciencia de Datos.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1700" i="1" dirty="0" err="1">
                <a:cs typeface="Muna" pitchFamily="2" charset="-78"/>
              </a:rPr>
              <a:t>Líder</a:t>
            </a:r>
            <a:r>
              <a:rPr lang="en-US" sz="1700" i="1" dirty="0">
                <a:cs typeface="Muna" pitchFamily="2" charset="-78"/>
              </a:rPr>
              <a:t> Grupo de </a:t>
            </a:r>
            <a:r>
              <a:rPr lang="en-US" sz="1700" i="1" dirty="0" err="1">
                <a:cs typeface="Muna" pitchFamily="2" charset="-78"/>
              </a:rPr>
              <a:t>Investigación</a:t>
            </a:r>
            <a:r>
              <a:rPr lang="en-US" sz="1700" i="1" dirty="0">
                <a:cs typeface="Muna" pitchFamily="2" charset="-78"/>
              </a:rPr>
              <a:t> </a:t>
            </a:r>
            <a:r>
              <a:rPr lang="en-US" sz="1700" i="1" dirty="0" err="1">
                <a:cs typeface="Muna" pitchFamily="2" charset="-78"/>
              </a:rPr>
              <a:t>en</a:t>
            </a:r>
            <a:r>
              <a:rPr lang="en-US" sz="1700" i="1" dirty="0">
                <a:cs typeface="Muna" pitchFamily="2" charset="-78"/>
              </a:rPr>
              <a:t> </a:t>
            </a:r>
            <a:r>
              <a:rPr lang="en-US" sz="1700" i="1" dirty="0" err="1">
                <a:cs typeface="Muna" pitchFamily="2" charset="-78"/>
              </a:rPr>
              <a:t>Gravitación</a:t>
            </a:r>
            <a:r>
              <a:rPr lang="en-US" sz="1700" i="1" dirty="0">
                <a:cs typeface="Muna" pitchFamily="2" charset="-78"/>
              </a:rPr>
              <a:t> y </a:t>
            </a:r>
            <a:r>
              <a:rPr lang="en-US" sz="1700" i="1" dirty="0" err="1">
                <a:cs typeface="Muna" pitchFamily="2" charset="-78"/>
              </a:rPr>
              <a:t>Matemática</a:t>
            </a:r>
            <a:r>
              <a:rPr lang="en-US" sz="1700" i="1" dirty="0">
                <a:cs typeface="Muna" pitchFamily="2" charset="-78"/>
              </a:rPr>
              <a:t> </a:t>
            </a:r>
            <a:r>
              <a:rPr lang="en-US" sz="1700" i="1" dirty="0" err="1">
                <a:cs typeface="Muna" pitchFamily="2" charset="-78"/>
              </a:rPr>
              <a:t>Aplicada</a:t>
            </a:r>
            <a:r>
              <a:rPr lang="en-US" sz="1700" i="1" dirty="0">
                <a:cs typeface="Muna" pitchFamily="2" charset="-78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sz="1700" dirty="0" err="1">
                <a:cs typeface="Muna" pitchFamily="2" charset="-78"/>
              </a:rPr>
              <a:t>Líneas</a:t>
            </a:r>
            <a:r>
              <a:rPr lang="en-US" sz="1700" dirty="0">
                <a:cs typeface="Muna" pitchFamily="2" charset="-78"/>
              </a:rPr>
              <a:t> de </a:t>
            </a:r>
            <a:r>
              <a:rPr lang="en-US" sz="1700" dirty="0" err="1">
                <a:cs typeface="Muna" pitchFamily="2" charset="-78"/>
              </a:rPr>
              <a:t>investigación</a:t>
            </a:r>
            <a:r>
              <a:rPr lang="en-US" sz="1700" dirty="0">
                <a:cs typeface="Muna" pitchFamily="2" charset="-78"/>
              </a:rPr>
              <a:t>: </a:t>
            </a:r>
            <a:r>
              <a:rPr lang="en-US" sz="1700" dirty="0" err="1">
                <a:cs typeface="Muna" pitchFamily="2" charset="-78"/>
              </a:rPr>
              <a:t>astrofísica</a:t>
            </a:r>
            <a:r>
              <a:rPr lang="en-US" sz="1700" dirty="0">
                <a:cs typeface="Muna" pitchFamily="2" charset="-78"/>
              </a:rPr>
              <a:t>, </a:t>
            </a:r>
            <a:r>
              <a:rPr lang="en-US" sz="1700" dirty="0" err="1">
                <a:cs typeface="Muna" pitchFamily="2" charset="-78"/>
              </a:rPr>
              <a:t>ciencia</a:t>
            </a:r>
            <a:r>
              <a:rPr lang="en-US" sz="1700" dirty="0">
                <a:cs typeface="Muna" pitchFamily="2" charset="-78"/>
              </a:rPr>
              <a:t> de </a:t>
            </a:r>
            <a:r>
              <a:rPr lang="en-US" sz="1700" dirty="0" err="1">
                <a:cs typeface="Muna" pitchFamily="2" charset="-78"/>
              </a:rPr>
              <a:t>datos</a:t>
            </a:r>
            <a:r>
              <a:rPr lang="en-US" sz="1700" dirty="0">
                <a:cs typeface="Muna" pitchFamily="2" charset="-78"/>
              </a:rPr>
              <a:t>, </a:t>
            </a:r>
            <a:r>
              <a:rPr lang="en-US" sz="1700" dirty="0" err="1">
                <a:cs typeface="Muna" pitchFamily="2" charset="-78"/>
              </a:rPr>
              <a:t>sostenibilidad</a:t>
            </a:r>
            <a:r>
              <a:rPr lang="en-US" sz="1700" dirty="0">
                <a:cs typeface="Muna" pitchFamily="2" charset="-78"/>
              </a:rPr>
              <a:t> Ambiental, </a:t>
            </a:r>
            <a:r>
              <a:rPr lang="en-US" sz="1700" dirty="0" err="1">
                <a:cs typeface="Muna" pitchFamily="2" charset="-78"/>
              </a:rPr>
              <a:t>matemáticas</a:t>
            </a:r>
            <a:r>
              <a:rPr lang="en-US" sz="1700" dirty="0">
                <a:cs typeface="Muna" pitchFamily="2" charset="-78"/>
              </a:rPr>
              <a:t> y </a:t>
            </a:r>
            <a:r>
              <a:rPr lang="en-US" sz="1700" dirty="0" err="1">
                <a:cs typeface="Muna" pitchFamily="2" charset="-78"/>
              </a:rPr>
              <a:t>física</a:t>
            </a:r>
            <a:r>
              <a:rPr lang="en-US" sz="1700" dirty="0">
                <a:cs typeface="Muna" pitchFamily="2" charset="-78"/>
              </a:rPr>
              <a:t> </a:t>
            </a:r>
            <a:r>
              <a:rPr lang="en-US" sz="1700" dirty="0" err="1">
                <a:cs typeface="Muna" pitchFamily="2" charset="-78"/>
              </a:rPr>
              <a:t>aplicada</a:t>
            </a:r>
            <a:endParaRPr lang="en-US" sz="1700" dirty="0">
              <a:cs typeface="Muna" pitchFamily="2" charset="-78"/>
            </a:endParaRPr>
          </a:p>
          <a:p>
            <a:pPr>
              <a:lnSpc>
                <a:spcPct val="90000"/>
              </a:lnSpc>
            </a:pPr>
            <a:r>
              <a:rPr lang="en-US" sz="1700" dirty="0" err="1">
                <a:cs typeface="Muna" pitchFamily="2" charset="-78"/>
              </a:rPr>
              <a:t>Apasionado</a:t>
            </a:r>
            <a:r>
              <a:rPr lang="en-US" sz="1700" dirty="0">
                <a:cs typeface="Muna" pitchFamily="2" charset="-78"/>
              </a:rPr>
              <a:t> </a:t>
            </a:r>
            <a:r>
              <a:rPr lang="en-US" sz="1700" dirty="0" err="1">
                <a:cs typeface="Muna" pitchFamily="2" charset="-78"/>
              </a:rPr>
              <a:t>por</a:t>
            </a:r>
            <a:r>
              <a:rPr lang="en-US" sz="1700" dirty="0">
                <a:cs typeface="Muna" pitchFamily="2" charset="-78"/>
              </a:rPr>
              <a:t> la </a:t>
            </a:r>
            <a:r>
              <a:rPr lang="en-US" sz="1700" dirty="0" err="1">
                <a:cs typeface="Muna" pitchFamily="2" charset="-78"/>
              </a:rPr>
              <a:t>enseñanza</a:t>
            </a:r>
            <a:r>
              <a:rPr lang="en-US" sz="1700" dirty="0">
                <a:cs typeface="Muna" pitchFamily="2" charset="-78"/>
              </a:rPr>
              <a:t>, la </a:t>
            </a:r>
            <a:r>
              <a:rPr lang="en-US" sz="1700" dirty="0" err="1">
                <a:cs typeface="Muna" pitchFamily="2" charset="-78"/>
              </a:rPr>
              <a:t>ciencia</a:t>
            </a:r>
            <a:r>
              <a:rPr lang="en-US" sz="1700" dirty="0">
                <a:cs typeface="Muna" pitchFamily="2" charset="-78"/>
              </a:rPr>
              <a:t> </a:t>
            </a:r>
            <a:r>
              <a:rPr lang="en-US" sz="1700" dirty="0" err="1">
                <a:cs typeface="Muna" pitchFamily="2" charset="-78"/>
              </a:rPr>
              <a:t>abierta</a:t>
            </a:r>
            <a:r>
              <a:rPr lang="en-US" sz="1700" dirty="0">
                <a:cs typeface="Muna" pitchFamily="2" charset="-78"/>
              </a:rPr>
              <a:t> y la </a:t>
            </a:r>
            <a:r>
              <a:rPr lang="en-US" sz="1700" dirty="0" err="1">
                <a:cs typeface="Muna" pitchFamily="2" charset="-78"/>
              </a:rPr>
              <a:t>mentoría</a:t>
            </a:r>
            <a:r>
              <a:rPr lang="en-US" sz="1700" dirty="0">
                <a:cs typeface="Muna" pitchFamily="2" charset="-78"/>
              </a:rPr>
              <a:t> </a:t>
            </a:r>
            <a:r>
              <a:rPr lang="en-US" sz="1700" dirty="0" err="1">
                <a:cs typeface="Muna" pitchFamily="2" charset="-78"/>
              </a:rPr>
              <a:t>estudiantil</a:t>
            </a:r>
            <a:endParaRPr lang="en-US" sz="1700" dirty="0">
              <a:cs typeface="Muna" pitchFamily="2" charset="-78"/>
            </a:endParaRPr>
          </a:p>
          <a:p>
            <a:pPr>
              <a:lnSpc>
                <a:spcPct val="90000"/>
              </a:lnSpc>
            </a:pPr>
            <a:r>
              <a:rPr lang="en-US" sz="1700" dirty="0">
                <a:cs typeface="Muna" pitchFamily="2" charset="-78"/>
                <a:hlinkClick r:id="rId2"/>
              </a:rPr>
              <a:t>https://sierraporta.github.io</a:t>
            </a:r>
            <a:endParaRPr lang="en-US" sz="1400" dirty="0">
              <a:cs typeface="Muna" pitchFamily="2" charset="-78"/>
            </a:endParaRPr>
          </a:p>
        </p:txBody>
      </p:sp>
      <p:cxnSp>
        <p:nvCxnSpPr>
          <p:cNvPr id="2081" name="Straight Connector 2080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Road quote image">
            <a:extLst>
              <a:ext uri="{FF2B5EF4-FFF2-40B4-BE49-F238E27FC236}">
                <a16:creationId xmlns:a16="http://schemas.microsoft.com/office/drawing/2014/main" id="{39B70BA8-83EB-5644-A65B-7DE930CDC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3" r="17819"/>
          <a:stretch>
            <a:fillRect/>
          </a:stretch>
        </p:blipFill>
        <p:spPr bwMode="auto">
          <a:xfrm>
            <a:off x="5488399" y="281449"/>
            <a:ext cx="6273249" cy="548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82" name="Group 2081">
            <a:extLst>
              <a:ext uri="{FF2B5EF4-FFF2-40B4-BE49-F238E27FC236}">
                <a16:creationId xmlns:a16="http://schemas.microsoft.com/office/drawing/2014/main" id="{0D40C408-1C95-CC45-87A7-61CE8B1F9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2083" name="Freeform 22">
              <a:extLst>
                <a:ext uri="{FF2B5EF4-FFF2-40B4-BE49-F238E27FC236}">
                  <a16:creationId xmlns:a16="http://schemas.microsoft.com/office/drawing/2014/main" id="{064C34AA-742A-4849-8CD3-EBD627656C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84" name="Freeform 24">
              <a:extLst>
                <a:ext uri="{FF2B5EF4-FFF2-40B4-BE49-F238E27FC236}">
                  <a16:creationId xmlns:a16="http://schemas.microsoft.com/office/drawing/2014/main" id="{EC6ED33D-9A7B-5247-BA45-456AE5F3B4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85" name="Freeform 26">
              <a:extLst>
                <a:ext uri="{FF2B5EF4-FFF2-40B4-BE49-F238E27FC236}">
                  <a16:creationId xmlns:a16="http://schemas.microsoft.com/office/drawing/2014/main" id="{143DF02F-6797-8A48-8141-360A16A5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86" name="Freeform 27">
              <a:extLst>
                <a:ext uri="{FF2B5EF4-FFF2-40B4-BE49-F238E27FC236}">
                  <a16:creationId xmlns:a16="http://schemas.microsoft.com/office/drawing/2014/main" id="{FDD14875-9EDB-984E-9EDE-3C3A422D9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05ADD15B-C747-D340-BF8A-A1DD2A6A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2058" name="Freeform 53">
              <a:extLst>
                <a:ext uri="{FF2B5EF4-FFF2-40B4-BE49-F238E27FC236}">
                  <a16:creationId xmlns:a16="http://schemas.microsoft.com/office/drawing/2014/main" id="{0B0B662E-0152-FD4E-B468-3F3593C15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59" name="Freeform 55">
              <a:extLst>
                <a:ext uri="{FF2B5EF4-FFF2-40B4-BE49-F238E27FC236}">
                  <a16:creationId xmlns:a16="http://schemas.microsoft.com/office/drawing/2014/main" id="{81BFFC99-6B9D-F240-BD39-160F4C573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0" name="Freeform 57">
              <a:extLst>
                <a:ext uri="{FF2B5EF4-FFF2-40B4-BE49-F238E27FC236}">
                  <a16:creationId xmlns:a16="http://schemas.microsoft.com/office/drawing/2014/main" id="{4DC6AEB9-EEFF-D243-AEE2-42D0F9E53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1" name="Freeform 58">
              <a:extLst>
                <a:ext uri="{FF2B5EF4-FFF2-40B4-BE49-F238E27FC236}">
                  <a16:creationId xmlns:a16="http://schemas.microsoft.com/office/drawing/2014/main" id="{D89DA958-651D-0049-A549-A9D22E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1FE039F1-6D47-C642-B506-452A83B0A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4" descr="Universidad Tecnológica de Bolívar - Wikipedia, la enciclopedia libre">
            <a:extLst>
              <a:ext uri="{FF2B5EF4-FFF2-40B4-BE49-F238E27FC236}">
                <a16:creationId xmlns:a16="http://schemas.microsoft.com/office/drawing/2014/main" id="{3376F31E-2C43-67D9-3A5B-C8263EE00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539" y="6167503"/>
            <a:ext cx="1234303" cy="60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Escuela de Transformación Digital">
            <a:extLst>
              <a:ext uri="{FF2B5EF4-FFF2-40B4-BE49-F238E27FC236}">
                <a16:creationId xmlns:a16="http://schemas.microsoft.com/office/drawing/2014/main" id="{3FB3A371-56ED-6E42-EC7E-577765A8EC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79" t="34174" r="15844" b="33382"/>
          <a:stretch>
            <a:fillRect/>
          </a:stretch>
        </p:blipFill>
        <p:spPr bwMode="auto">
          <a:xfrm>
            <a:off x="10134137" y="6192217"/>
            <a:ext cx="1874815" cy="506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654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1" name="Group 3080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3078" name="Oval 3077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9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80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06" name="Oval 3105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8" name="Oval 3107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0" name="Oval 3109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1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2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3" name="Oval 3122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4" name="Oval 3123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5" name="Oval 3124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6" name="Oval 3125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7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8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9" name="Oval 3128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0" name="Oval 3129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1" name="Oval 3130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2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3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4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5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6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7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8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107" name="Straight Connector 3106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09" name="Rectangle 310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2E4902-98C7-20CC-EF0A-D5BDBFBBD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17" y="5327366"/>
            <a:ext cx="4134537" cy="155535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5000" dirty="0"/>
              <a:t>Project formulations</a:t>
            </a:r>
          </a:p>
        </p:txBody>
      </p:sp>
      <p:grpSp>
        <p:nvGrpSpPr>
          <p:cNvPr id="3111" name="Group 3110">
            <a:extLst>
              <a:ext uri="{FF2B5EF4-FFF2-40B4-BE49-F238E27FC236}">
                <a16:creationId xmlns:a16="http://schemas.microsoft.com/office/drawing/2014/main" id="{665B630C-8A26-BF40-AD00-AAAB3F8DF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3112" name="Freeform 85">
              <a:extLst>
                <a:ext uri="{FF2B5EF4-FFF2-40B4-BE49-F238E27FC236}">
                  <a16:creationId xmlns:a16="http://schemas.microsoft.com/office/drawing/2014/main" id="{47332152-49D9-5F42-9522-9424EDC70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13" name="Freeform 87">
              <a:extLst>
                <a:ext uri="{FF2B5EF4-FFF2-40B4-BE49-F238E27FC236}">
                  <a16:creationId xmlns:a16="http://schemas.microsoft.com/office/drawing/2014/main" id="{60C97C94-6942-C048-8F6F-55E05CBA1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9" name="Freeform 89">
              <a:extLst>
                <a:ext uri="{FF2B5EF4-FFF2-40B4-BE49-F238E27FC236}">
                  <a16:creationId xmlns:a16="http://schemas.microsoft.com/office/drawing/2014/main" id="{BD92967A-BFB2-E441-AC07-5997DDDD5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40" name="Freeform 100">
              <a:extLst>
                <a:ext uri="{FF2B5EF4-FFF2-40B4-BE49-F238E27FC236}">
                  <a16:creationId xmlns:a16="http://schemas.microsoft.com/office/drawing/2014/main" id="{DC25488D-5181-EC40-A6AC-862FC3787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141" name="Straight Connector 3140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Dilbert Comic Mug - Project Planning, Progress &amp; Software Changes | Funny  Office Coffee Cup - Etsy">
            <a:extLst>
              <a:ext uri="{FF2B5EF4-FFF2-40B4-BE49-F238E27FC236}">
                <a16:creationId xmlns:a16="http://schemas.microsoft.com/office/drawing/2014/main" id="{27760B09-8914-C800-20A4-526605DD3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98150" y="330112"/>
            <a:ext cx="8749301" cy="5533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7986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58B1F-96B2-9F45-F167-F69B593F7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34"/>
            <a:ext cx="8791501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700"/>
              <a:t>Tres frases célebres de contexto….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DDDFCEF-D5C9-BE40-9979-57040F021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919876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63AF7E2-A240-C246-AFB8-2AD8FF462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760799C4-90B2-C44F-B45C-4128C830B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8117A5FF-BE82-D049-80D2-F42CEB9E7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0BDBD55C-A498-F545-BABF-ACA34A20E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FC6DFD41-F3C6-7747-98B3-A47594E7B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FA2D6C8B-5842-3443-BC3B-700D61C56D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C7442654-B5C0-1847-A829-082D07974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42B39F10-6841-E54C-8D10-69B571EE1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97611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1EC1-031B-0E32-4107-3B8D69B0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“</a:t>
            </a:r>
            <a:r>
              <a:rPr lang="en-CO" dirty="0"/>
              <a:t>Los planes tienen poca importancia, pero la planeación es esencial..</a:t>
            </a:r>
            <a:r>
              <a:rPr lang="en-US" i="1" dirty="0"/>
              <a:t>.”</a:t>
            </a:r>
            <a:endParaRPr lang="en-CO" dirty="0"/>
          </a:p>
        </p:txBody>
      </p:sp>
    </p:spTree>
    <p:extLst>
      <p:ext uri="{BB962C8B-B14F-4D97-AF65-F5344CB8AC3E}">
        <p14:creationId xmlns:p14="http://schemas.microsoft.com/office/powerpoint/2010/main" val="1069567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9B57E4-BF70-168A-A375-34E8C93F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609" name="Rectangle 2560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29A81-8A7D-AF11-3A86-95A086F63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6154424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i="1" dirty="0"/>
              <a:t>“Los planes son de </a:t>
            </a:r>
            <a:r>
              <a:rPr lang="en-US" sz="2800" i="1" dirty="0" err="1"/>
              <a:t>poca</a:t>
            </a:r>
            <a:r>
              <a:rPr lang="en-US" sz="2800" i="1" dirty="0"/>
              <a:t> </a:t>
            </a:r>
            <a:r>
              <a:rPr lang="en-US" sz="2800" i="1" dirty="0" err="1"/>
              <a:t>importancia</a:t>
            </a:r>
            <a:r>
              <a:rPr lang="en-US" sz="2800" i="1" dirty="0"/>
              <a:t>, </a:t>
            </a:r>
            <a:r>
              <a:rPr lang="en-US" sz="2800" i="1" dirty="0" err="1"/>
              <a:t>pero</a:t>
            </a:r>
            <a:r>
              <a:rPr lang="en-US" sz="2800" i="1" dirty="0"/>
              <a:t> la </a:t>
            </a:r>
            <a:r>
              <a:rPr lang="en-US" sz="2800" i="1" dirty="0" err="1"/>
              <a:t>planificación</a:t>
            </a:r>
            <a:r>
              <a:rPr lang="en-US" sz="2800" i="1" dirty="0"/>
              <a:t> lo es </a:t>
            </a:r>
            <a:r>
              <a:rPr lang="en-US" sz="2800" i="1" dirty="0" err="1"/>
              <a:t>todo</a:t>
            </a:r>
            <a:r>
              <a:rPr lang="en-US" sz="2800" i="1" dirty="0"/>
              <a:t>.”</a:t>
            </a:r>
            <a:endParaRPr lang="en-CO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AAE1C-A1D9-4843-7E85-A81ED86C4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6154424" cy="36012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i="1" dirty="0" err="1"/>
              <a:t>Estadista</a:t>
            </a:r>
            <a:r>
              <a:rPr lang="en-US" sz="2200" i="1" dirty="0"/>
              <a:t> </a:t>
            </a:r>
            <a:r>
              <a:rPr lang="en-US" sz="2200" i="1" dirty="0" err="1"/>
              <a:t>británico</a:t>
            </a:r>
            <a:r>
              <a:rPr lang="en-US" sz="2200" i="1" dirty="0"/>
              <a:t>, primer </a:t>
            </a:r>
            <a:r>
              <a:rPr lang="en-US" sz="2200" i="1" dirty="0" err="1"/>
              <a:t>ministro</a:t>
            </a:r>
            <a:r>
              <a:rPr lang="en-US" sz="2200" i="1" dirty="0"/>
              <a:t> del Reino </a:t>
            </a:r>
            <a:r>
              <a:rPr lang="en-US" sz="2200" i="1" dirty="0" err="1"/>
              <a:t>Unido</a:t>
            </a:r>
            <a:r>
              <a:rPr lang="en-US" sz="2200" i="1" dirty="0"/>
              <a:t> </a:t>
            </a:r>
            <a:r>
              <a:rPr lang="en-US" sz="2200" i="1" dirty="0" err="1"/>
              <a:t>durante</a:t>
            </a:r>
            <a:r>
              <a:rPr lang="en-US" sz="2200" i="1" dirty="0"/>
              <a:t> la Segunda Guerra Mundial. </a:t>
            </a:r>
            <a:r>
              <a:rPr lang="en-US" sz="2200" i="1" dirty="0" err="1"/>
              <a:t>Reconocido</a:t>
            </a:r>
            <a:r>
              <a:rPr lang="en-US" sz="2200" i="1" dirty="0"/>
              <a:t> </a:t>
            </a:r>
            <a:r>
              <a:rPr lang="en-US" sz="2200" i="1" dirty="0" err="1"/>
              <a:t>por</a:t>
            </a:r>
            <a:r>
              <a:rPr lang="en-US" sz="2200" i="1" dirty="0"/>
              <a:t> </a:t>
            </a:r>
            <a:r>
              <a:rPr lang="en-US" sz="2200" i="1" dirty="0" err="1"/>
              <a:t>su</a:t>
            </a:r>
            <a:r>
              <a:rPr lang="en-US" sz="2200" i="1" dirty="0"/>
              <a:t> </a:t>
            </a:r>
            <a:r>
              <a:rPr lang="en-US" sz="2200" i="1" dirty="0" err="1"/>
              <a:t>liderazgo</a:t>
            </a:r>
            <a:r>
              <a:rPr lang="en-US" sz="2200" i="1" dirty="0"/>
              <a:t> </a:t>
            </a:r>
            <a:r>
              <a:rPr lang="en-US" sz="2200" i="1" dirty="0" err="1"/>
              <a:t>en</a:t>
            </a:r>
            <a:r>
              <a:rPr lang="en-US" sz="2200" i="1" dirty="0"/>
              <a:t> </a:t>
            </a:r>
            <a:r>
              <a:rPr lang="en-US" sz="2200" i="1" dirty="0" err="1"/>
              <a:t>tiempos</a:t>
            </a:r>
            <a:r>
              <a:rPr lang="en-US" sz="2200" i="1" dirty="0"/>
              <a:t> de crisis, </a:t>
            </a:r>
            <a:r>
              <a:rPr lang="en-US" sz="2200" i="1" dirty="0" err="1"/>
              <a:t>su</a:t>
            </a:r>
            <a:r>
              <a:rPr lang="en-US" sz="2200" i="1" dirty="0"/>
              <a:t> </a:t>
            </a:r>
            <a:r>
              <a:rPr lang="en-US" sz="2200" i="1" dirty="0" err="1"/>
              <a:t>oratoria</a:t>
            </a:r>
            <a:r>
              <a:rPr lang="en-US" sz="2200" i="1" dirty="0"/>
              <a:t> </a:t>
            </a:r>
            <a:r>
              <a:rPr lang="en-US" sz="2200" i="1" dirty="0" err="1"/>
              <a:t>inspiradora</a:t>
            </a:r>
            <a:r>
              <a:rPr lang="en-US" sz="2200" i="1" dirty="0"/>
              <a:t> y </a:t>
            </a:r>
            <a:r>
              <a:rPr lang="en-US" sz="2200" i="1" dirty="0" err="1"/>
              <a:t>su</a:t>
            </a:r>
            <a:r>
              <a:rPr lang="en-US" sz="2200" i="1" dirty="0"/>
              <a:t> </a:t>
            </a:r>
            <a:r>
              <a:rPr lang="en-US" sz="2200" i="1" dirty="0" err="1"/>
              <a:t>visión</a:t>
            </a:r>
            <a:r>
              <a:rPr lang="en-US" sz="2200" i="1" dirty="0"/>
              <a:t> </a:t>
            </a:r>
            <a:r>
              <a:rPr lang="en-US" sz="2200" i="1" dirty="0" err="1"/>
              <a:t>estratégica</a:t>
            </a:r>
            <a:r>
              <a:rPr lang="en-US" sz="2200" i="1" dirty="0"/>
              <a:t>. Fue </a:t>
            </a:r>
            <a:r>
              <a:rPr lang="en-US" sz="2200" i="1" dirty="0" err="1"/>
              <a:t>galardonado</a:t>
            </a:r>
            <a:r>
              <a:rPr lang="en-US" sz="2200" i="1" dirty="0"/>
              <a:t> con </a:t>
            </a:r>
            <a:r>
              <a:rPr lang="en-US" sz="2200" i="1" dirty="0" err="1"/>
              <a:t>el</a:t>
            </a:r>
            <a:r>
              <a:rPr lang="en-US" sz="2200" i="1" dirty="0"/>
              <a:t> Premio Nobel de </a:t>
            </a:r>
            <a:r>
              <a:rPr lang="en-US" sz="2200" i="1" dirty="0" err="1"/>
              <a:t>Literatura</a:t>
            </a:r>
            <a:r>
              <a:rPr lang="en-US" sz="2200" i="1" dirty="0"/>
              <a:t> </a:t>
            </a:r>
            <a:r>
              <a:rPr lang="en-US" sz="2200" i="1" dirty="0" err="1"/>
              <a:t>en</a:t>
            </a:r>
            <a:r>
              <a:rPr lang="en-US" sz="2200" i="1" dirty="0"/>
              <a:t> 1953 </a:t>
            </a:r>
            <a:r>
              <a:rPr lang="en-US" sz="2200" i="1" dirty="0" err="1"/>
              <a:t>por</a:t>
            </a:r>
            <a:r>
              <a:rPr lang="en-US" sz="2200" i="1" dirty="0"/>
              <a:t> </a:t>
            </a:r>
            <a:r>
              <a:rPr lang="en-US" sz="2200" i="1" dirty="0" err="1"/>
              <a:t>su</a:t>
            </a:r>
            <a:r>
              <a:rPr lang="en-US" sz="2200" i="1" dirty="0"/>
              <a:t> </a:t>
            </a:r>
            <a:r>
              <a:rPr lang="en-US" sz="2200" i="1" dirty="0" err="1"/>
              <a:t>obra</a:t>
            </a:r>
            <a:r>
              <a:rPr lang="en-US" sz="2200" i="1" dirty="0"/>
              <a:t> </a:t>
            </a:r>
            <a:r>
              <a:rPr lang="en-US" sz="2200" i="1" dirty="0" err="1"/>
              <a:t>histórica</a:t>
            </a:r>
            <a:r>
              <a:rPr lang="en-US" sz="2200" i="1" dirty="0"/>
              <a:t> y sus </a:t>
            </a:r>
            <a:r>
              <a:rPr lang="en-US" sz="2200" i="1" dirty="0" err="1"/>
              <a:t>discursos</a:t>
            </a:r>
            <a:r>
              <a:rPr lang="en-US" sz="2200" i="1" dirty="0"/>
              <a:t>. Su </a:t>
            </a:r>
            <a:r>
              <a:rPr lang="en-US" sz="2200" i="1" dirty="0" err="1"/>
              <a:t>célebre</a:t>
            </a:r>
            <a:r>
              <a:rPr lang="en-US" sz="2200" i="1" dirty="0"/>
              <a:t> </a:t>
            </a:r>
            <a:r>
              <a:rPr lang="en-US" sz="2200" i="1" dirty="0" err="1"/>
              <a:t>frase</a:t>
            </a:r>
            <a:r>
              <a:rPr lang="en-US" sz="2200" i="1" dirty="0"/>
              <a:t> “La </a:t>
            </a:r>
            <a:r>
              <a:rPr lang="en-US" sz="2200" i="1" dirty="0" err="1"/>
              <a:t>planificación</a:t>
            </a:r>
            <a:r>
              <a:rPr lang="en-US" sz="2200" i="1" dirty="0"/>
              <a:t> lo es </a:t>
            </a:r>
            <a:r>
              <a:rPr lang="en-US" sz="2200" i="1" dirty="0" err="1"/>
              <a:t>todo</a:t>
            </a:r>
            <a:r>
              <a:rPr lang="en-US" sz="2200" i="1" dirty="0"/>
              <a:t>” </a:t>
            </a:r>
            <a:r>
              <a:rPr lang="en-US" sz="2200" i="1" dirty="0" err="1"/>
              <a:t>refleja</a:t>
            </a:r>
            <a:r>
              <a:rPr lang="en-US" sz="2200" i="1" dirty="0"/>
              <a:t> </a:t>
            </a:r>
            <a:r>
              <a:rPr lang="en-US" sz="2200" i="1" dirty="0" err="1"/>
              <a:t>su</a:t>
            </a:r>
            <a:r>
              <a:rPr lang="en-US" sz="2200" i="1" dirty="0"/>
              <a:t> </a:t>
            </a:r>
            <a:r>
              <a:rPr lang="en-US" sz="2200" i="1" dirty="0" err="1"/>
              <a:t>convicción</a:t>
            </a:r>
            <a:r>
              <a:rPr lang="en-US" sz="2200" i="1" dirty="0"/>
              <a:t> de que la </a:t>
            </a:r>
            <a:r>
              <a:rPr lang="en-US" sz="2200" i="1" dirty="0" err="1"/>
              <a:t>preparación</a:t>
            </a:r>
            <a:r>
              <a:rPr lang="en-US" sz="2200" i="1" dirty="0"/>
              <a:t> es clave </a:t>
            </a:r>
            <a:r>
              <a:rPr lang="en-US" sz="2200" i="1" dirty="0" err="1"/>
              <a:t>incluso</a:t>
            </a:r>
            <a:r>
              <a:rPr lang="en-US" sz="2200" i="1" dirty="0"/>
              <a:t> </a:t>
            </a:r>
            <a:r>
              <a:rPr lang="en-US" sz="2200" i="1" dirty="0" err="1"/>
              <a:t>en</a:t>
            </a:r>
            <a:r>
              <a:rPr lang="en-US" sz="2200" i="1" dirty="0"/>
              <a:t> la </a:t>
            </a:r>
            <a:r>
              <a:rPr lang="en-US" sz="2200" i="1" dirty="0" err="1"/>
              <a:t>incertidumbre</a:t>
            </a:r>
            <a:r>
              <a:rPr lang="en-US" sz="2200" i="1" dirty="0"/>
              <a:t> de la </a:t>
            </a:r>
            <a:r>
              <a:rPr lang="en-US" sz="2200" i="1" dirty="0" err="1"/>
              <a:t>guerra</a:t>
            </a:r>
            <a:r>
              <a:rPr lang="en-US" sz="2200" i="1" dirty="0"/>
              <a:t>.</a:t>
            </a:r>
            <a:endParaRPr lang="en-CO" sz="2200" i="1" dirty="0"/>
          </a:p>
        </p:txBody>
      </p:sp>
      <p:pic>
        <p:nvPicPr>
          <p:cNvPr id="25602" name="Picture 2" descr="Winston Churchill - Quotes, Paintings &amp; Death">
            <a:extLst>
              <a:ext uri="{FF2B5EF4-FFF2-40B4-BE49-F238E27FC236}">
                <a16:creationId xmlns:a16="http://schemas.microsoft.com/office/drawing/2014/main" id="{B789A39F-6426-D9EC-3DB5-48C077692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50" r="2" b="9789"/>
          <a:stretch>
            <a:fillRect/>
          </a:stretch>
        </p:blipFill>
        <p:spPr bwMode="auto">
          <a:xfrm>
            <a:off x="7853878" y="219921"/>
            <a:ext cx="4338122" cy="3165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4" name="Picture 4" descr="The Second World War (book series) - Wikipedia">
            <a:extLst>
              <a:ext uri="{FF2B5EF4-FFF2-40B4-BE49-F238E27FC236}">
                <a16:creationId xmlns:a16="http://schemas.microsoft.com/office/drawing/2014/main" id="{932805B5-C533-38E1-54E7-0BD144E88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" r="1" b="847"/>
          <a:stretch>
            <a:fillRect/>
          </a:stretch>
        </p:blipFill>
        <p:spPr bwMode="auto">
          <a:xfrm>
            <a:off x="7149140" y="3209089"/>
            <a:ext cx="469968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611" name="Straight Connector 25610">
            <a:extLst>
              <a:ext uri="{FF2B5EF4-FFF2-40B4-BE49-F238E27FC236}">
                <a16:creationId xmlns:a16="http://schemas.microsoft.com/office/drawing/2014/main" id="{0608BEAB-78BB-F54E-B087-1CB0393E3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88536" y="3428999"/>
            <a:ext cx="4703464" cy="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613" name="Group 25612">
            <a:extLst>
              <a:ext uri="{FF2B5EF4-FFF2-40B4-BE49-F238E27FC236}">
                <a16:creationId xmlns:a16="http://schemas.microsoft.com/office/drawing/2014/main" id="{4684B970-A9BC-554F-AFC0-D4C5811B7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88851" y="0"/>
            <a:ext cx="1901686" cy="4677439"/>
            <a:chOff x="10290315" y="0"/>
            <a:chExt cx="1901686" cy="4677439"/>
          </a:xfrm>
        </p:grpSpPr>
        <p:sp>
          <p:nvSpPr>
            <p:cNvPr id="25614" name="Freeform 24">
              <a:extLst>
                <a:ext uri="{FF2B5EF4-FFF2-40B4-BE49-F238E27FC236}">
                  <a16:creationId xmlns:a16="http://schemas.microsoft.com/office/drawing/2014/main" id="{7B833146-9A26-EA41-8B79-06207BD00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615" name="Freeform 26">
              <a:extLst>
                <a:ext uri="{FF2B5EF4-FFF2-40B4-BE49-F238E27FC236}">
                  <a16:creationId xmlns:a16="http://schemas.microsoft.com/office/drawing/2014/main" id="{E4D1DD64-0D91-0641-B937-B7F8B0A5F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616" name="Freeform 28">
              <a:extLst>
                <a:ext uri="{FF2B5EF4-FFF2-40B4-BE49-F238E27FC236}">
                  <a16:creationId xmlns:a16="http://schemas.microsoft.com/office/drawing/2014/main" id="{E7C64C9D-CB02-BF42-8DC9-660F3EC73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617" name="Freeform 29">
              <a:extLst>
                <a:ext uri="{FF2B5EF4-FFF2-40B4-BE49-F238E27FC236}">
                  <a16:creationId xmlns:a16="http://schemas.microsoft.com/office/drawing/2014/main" id="{15A7E0DC-E563-4E45-8D1D-3B57D5A60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5619" name="Straight Connector 25618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635315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8603CB6-4327-38B6-2CB2-DB997537110D}"/>
              </a:ext>
            </a:extLst>
          </p:cNvPr>
          <p:cNvSpPr txBox="1"/>
          <p:nvPr/>
        </p:nvSpPr>
        <p:spPr>
          <a:xfrm>
            <a:off x="4974220" y="6231789"/>
            <a:ext cx="6105644" cy="362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ct val="100000"/>
              </a:lnSpc>
              <a:spcAft>
                <a:spcPts val="225"/>
              </a:spcAft>
              <a:buNone/>
            </a:pPr>
            <a:r>
              <a:rPr lang="en-CO" sz="1800" b="1" i="0" dirty="0">
                <a:solidFill>
                  <a:schemeClr val="tx1"/>
                </a:solidFill>
                <a:effectLst/>
                <a:latin typeface="+mn-lt"/>
              </a:rPr>
              <a:t>Winston Churchill</a:t>
            </a:r>
            <a:endParaRPr lang="en-CO" sz="1950" b="1" i="0" dirty="0">
              <a:solidFill>
                <a:srgbClr val="101423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430873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B1FD8-CC33-38AB-CF65-61106F319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“</a:t>
            </a:r>
            <a:r>
              <a:rPr lang="en-CO" dirty="0"/>
              <a:t>No conviene dejar un dragón vivo fuera de tus cálculos si vives cerca de uno..</a:t>
            </a:r>
            <a:r>
              <a:rPr lang="en-US" i="1" dirty="0"/>
              <a:t>.”</a:t>
            </a:r>
            <a:endParaRPr lang="en-CO" dirty="0"/>
          </a:p>
        </p:txBody>
      </p:sp>
    </p:spTree>
    <p:extLst>
      <p:ext uri="{BB962C8B-B14F-4D97-AF65-F5344CB8AC3E}">
        <p14:creationId xmlns:p14="http://schemas.microsoft.com/office/powerpoint/2010/main" val="2343953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91C144-95A1-71AB-790C-8E5BA9C81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633" name="Rectangle 26632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242D59-85A2-F7F6-CFBB-F24508D50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6154424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i="1" dirty="0"/>
              <a:t>“No </a:t>
            </a:r>
            <a:r>
              <a:rPr lang="en-US" sz="2800" i="1" dirty="0" err="1"/>
              <a:t>conviene</a:t>
            </a:r>
            <a:r>
              <a:rPr lang="en-US" sz="2800" i="1" dirty="0"/>
              <a:t> </a:t>
            </a:r>
            <a:r>
              <a:rPr lang="en-US" sz="2800" i="1" dirty="0" err="1"/>
              <a:t>dejar</a:t>
            </a:r>
            <a:r>
              <a:rPr lang="en-US" sz="2800" i="1" dirty="0"/>
              <a:t> un </a:t>
            </a:r>
            <a:r>
              <a:rPr lang="en-US" sz="2800" i="1" dirty="0" err="1"/>
              <a:t>dragón</a:t>
            </a:r>
            <a:r>
              <a:rPr lang="en-US" sz="2800" i="1" dirty="0"/>
              <a:t> vivo fuera de </a:t>
            </a:r>
            <a:r>
              <a:rPr lang="en-US" sz="2800" i="1" dirty="0" err="1"/>
              <a:t>tus</a:t>
            </a:r>
            <a:r>
              <a:rPr lang="en-US" sz="2800" i="1" dirty="0"/>
              <a:t> </a:t>
            </a:r>
            <a:r>
              <a:rPr lang="en-US" sz="2800" i="1" dirty="0" err="1"/>
              <a:t>cálculos</a:t>
            </a:r>
            <a:r>
              <a:rPr lang="en-US" sz="2800" i="1" dirty="0"/>
              <a:t> </a:t>
            </a:r>
            <a:r>
              <a:rPr lang="en-US" sz="2800" i="1" dirty="0" err="1"/>
              <a:t>si</a:t>
            </a:r>
            <a:r>
              <a:rPr lang="en-US" sz="2800" i="1" dirty="0"/>
              <a:t> vives </a:t>
            </a:r>
            <a:r>
              <a:rPr lang="en-US" sz="2800" i="1" dirty="0" err="1"/>
              <a:t>cerca</a:t>
            </a:r>
            <a:r>
              <a:rPr lang="en-US" sz="2800" i="1" dirty="0"/>
              <a:t> de uno.”</a:t>
            </a:r>
            <a:endParaRPr lang="en-CO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D45CB-2BD2-4FC2-BBBD-5D0350019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6154424" cy="3601212"/>
          </a:xfrm>
        </p:spPr>
        <p:txBody>
          <a:bodyPr>
            <a:normAutofit fontScale="92500" lnSpcReduction="20000"/>
          </a:bodyPr>
          <a:lstStyle/>
          <a:p>
            <a:r>
              <a:rPr lang="en-US" sz="2000" i="1" dirty="0"/>
              <a:t>Esta </a:t>
            </a:r>
            <a:r>
              <a:rPr lang="en-US" sz="2000" i="1" dirty="0" err="1"/>
              <a:t>frase</a:t>
            </a:r>
            <a:r>
              <a:rPr lang="en-US" sz="2000" i="1" dirty="0"/>
              <a:t> </a:t>
            </a:r>
            <a:r>
              <a:rPr lang="en-US" sz="2000" i="1" dirty="0" err="1"/>
              <a:t>sobre</a:t>
            </a:r>
            <a:r>
              <a:rPr lang="en-US" sz="2000" i="1" dirty="0"/>
              <a:t> </a:t>
            </a:r>
            <a:r>
              <a:rPr lang="en-US" sz="2000" i="1" dirty="0" err="1"/>
              <a:t>planeación</a:t>
            </a:r>
            <a:r>
              <a:rPr lang="en-US" sz="2000" i="1" dirty="0"/>
              <a:t> de Tolkien </a:t>
            </a:r>
            <a:r>
              <a:rPr lang="en-US" sz="2000" i="1" dirty="0" err="1"/>
              <a:t>en</a:t>
            </a:r>
            <a:r>
              <a:rPr lang="en-US" sz="2000" i="1" dirty="0"/>
              <a:t> el </a:t>
            </a:r>
            <a:r>
              <a:rPr lang="en-US" sz="2000" i="1" dirty="0" err="1"/>
              <a:t>clásico</a:t>
            </a:r>
            <a:r>
              <a:rPr lang="en-US" sz="2000" i="1" dirty="0"/>
              <a:t> de </a:t>
            </a:r>
            <a:r>
              <a:rPr lang="en-US" sz="2000" i="1" dirty="0" err="1"/>
              <a:t>fantasía</a:t>
            </a:r>
            <a:r>
              <a:rPr lang="en-US" sz="2000" i="1" dirty="0"/>
              <a:t> El Hobbit </a:t>
            </a:r>
            <a:r>
              <a:rPr lang="en-US" sz="2000" i="1" dirty="0" err="1"/>
              <a:t>logra</a:t>
            </a:r>
            <a:r>
              <a:rPr lang="en-US" sz="2000" i="1" dirty="0"/>
              <a:t> lo </a:t>
            </a:r>
            <a:r>
              <a:rPr lang="en-US" sz="2000" i="1" dirty="0" err="1"/>
              <a:t>que</a:t>
            </a:r>
            <a:r>
              <a:rPr lang="en-US" sz="2000" i="1" dirty="0"/>
              <a:t> </a:t>
            </a:r>
            <a:r>
              <a:rPr lang="en-US" sz="2000" i="1" dirty="0" err="1"/>
              <a:t>hacen</a:t>
            </a:r>
            <a:r>
              <a:rPr lang="en-US" sz="2000" i="1" dirty="0"/>
              <a:t> </a:t>
            </a:r>
            <a:r>
              <a:rPr lang="en-US" sz="2000" i="1" dirty="0" err="1"/>
              <a:t>todas</a:t>
            </a:r>
            <a:r>
              <a:rPr lang="en-US" sz="2000" i="1" dirty="0"/>
              <a:t> las </a:t>
            </a:r>
            <a:r>
              <a:rPr lang="en-US" sz="2000" i="1" dirty="0" err="1"/>
              <a:t>buenas</a:t>
            </a:r>
            <a:r>
              <a:rPr lang="en-US" sz="2000" i="1" dirty="0"/>
              <a:t> </a:t>
            </a:r>
            <a:r>
              <a:rPr lang="en-US" sz="2000" i="1" dirty="0" err="1"/>
              <a:t>citas</a:t>
            </a:r>
            <a:r>
              <a:rPr lang="en-US" sz="2000" i="1" dirty="0"/>
              <a:t>: </a:t>
            </a:r>
            <a:r>
              <a:rPr lang="en-US" sz="2000" i="1" dirty="0" err="1"/>
              <a:t>hablarle</a:t>
            </a:r>
            <a:r>
              <a:rPr lang="en-US" sz="2000" i="1" dirty="0"/>
              <a:t> al lector </a:t>
            </a:r>
            <a:r>
              <a:rPr lang="en-US" sz="2000" i="1" dirty="0" err="1"/>
              <a:t>en</a:t>
            </a:r>
            <a:r>
              <a:rPr lang="en-US" sz="2000" i="1" dirty="0"/>
              <a:t> </a:t>
            </a:r>
            <a:r>
              <a:rPr lang="en-US" sz="2000" i="1" dirty="0" err="1"/>
              <a:t>muchos</a:t>
            </a:r>
            <a:r>
              <a:rPr lang="en-US" sz="2000" i="1" dirty="0"/>
              <a:t> </a:t>
            </a:r>
            <a:r>
              <a:rPr lang="en-US" sz="2000" i="1" dirty="0" err="1"/>
              <a:t>niveles</a:t>
            </a:r>
            <a:r>
              <a:rPr lang="en-US" sz="2000" i="1" dirty="0"/>
              <a:t>. Por </a:t>
            </a:r>
            <a:r>
              <a:rPr lang="en-US" sz="2000" i="1" dirty="0" err="1"/>
              <a:t>supuesto</a:t>
            </a:r>
            <a:r>
              <a:rPr lang="en-US" sz="2000" i="1" dirty="0"/>
              <a:t>, es </a:t>
            </a:r>
            <a:r>
              <a:rPr lang="en-US" sz="2000" i="1" dirty="0" err="1"/>
              <a:t>una</a:t>
            </a:r>
            <a:r>
              <a:rPr lang="en-US" sz="2000" i="1" dirty="0"/>
              <a:t> </a:t>
            </a:r>
            <a:r>
              <a:rPr lang="en-US" sz="2000" i="1" dirty="0" err="1"/>
              <a:t>pieza</a:t>
            </a:r>
            <a:r>
              <a:rPr lang="en-US" sz="2000" i="1" dirty="0"/>
              <a:t> de </a:t>
            </a:r>
            <a:r>
              <a:rPr lang="en-US" sz="2000" i="1" dirty="0" err="1"/>
              <a:t>diálogo</a:t>
            </a:r>
            <a:r>
              <a:rPr lang="en-US" sz="2000" i="1" dirty="0"/>
              <a:t> </a:t>
            </a:r>
            <a:r>
              <a:rPr lang="en-US" sz="2000" i="1" dirty="0" err="1"/>
              <a:t>que</a:t>
            </a:r>
            <a:r>
              <a:rPr lang="en-US" sz="2000" i="1" dirty="0"/>
              <a:t> </a:t>
            </a:r>
            <a:r>
              <a:rPr lang="en-US" sz="2000" i="1" dirty="0" err="1"/>
              <a:t>impulsa</a:t>
            </a:r>
            <a:r>
              <a:rPr lang="en-US" sz="2000" i="1" dirty="0"/>
              <a:t> la </a:t>
            </a:r>
            <a:r>
              <a:rPr lang="en-US" sz="2000" i="1" dirty="0" err="1"/>
              <a:t>historia</a:t>
            </a:r>
            <a:r>
              <a:rPr lang="en-US" sz="2000" i="1" dirty="0"/>
              <a:t>. Pero Tolkien no solo </a:t>
            </a:r>
            <a:r>
              <a:rPr lang="en-US" sz="2000" i="1" dirty="0" err="1"/>
              <a:t>habla</a:t>
            </a:r>
            <a:r>
              <a:rPr lang="en-US" sz="2000" i="1" dirty="0"/>
              <a:t> de tierras </a:t>
            </a:r>
            <a:r>
              <a:rPr lang="en-US" sz="2000" i="1" dirty="0" err="1"/>
              <a:t>imaginarias</a:t>
            </a:r>
            <a:r>
              <a:rPr lang="en-US" sz="2000" i="1" dirty="0"/>
              <a:t>. También se </a:t>
            </a:r>
            <a:r>
              <a:rPr lang="en-US" sz="2000" i="1" dirty="0" err="1"/>
              <a:t>refiere</a:t>
            </a:r>
            <a:r>
              <a:rPr lang="en-US" sz="2000" i="1" dirty="0"/>
              <a:t> a la </a:t>
            </a:r>
            <a:r>
              <a:rPr lang="en-US" sz="2000" i="1" dirty="0" err="1"/>
              <a:t>necesidad</a:t>
            </a:r>
            <a:r>
              <a:rPr lang="en-US" sz="2000" i="1" dirty="0"/>
              <a:t> de </a:t>
            </a:r>
            <a:r>
              <a:rPr lang="en-US" sz="2000" i="1" dirty="0" err="1"/>
              <a:t>identificar</a:t>
            </a:r>
            <a:r>
              <a:rPr lang="en-US" sz="2000" i="1" dirty="0"/>
              <a:t> </a:t>
            </a:r>
            <a:r>
              <a:rPr lang="en-US" sz="2000" i="1" dirty="0" err="1"/>
              <a:t>riesgos</a:t>
            </a:r>
            <a:r>
              <a:rPr lang="en-US" sz="2000" i="1" dirty="0"/>
              <a:t> </a:t>
            </a:r>
            <a:r>
              <a:rPr lang="en-US" sz="2000" i="1" dirty="0" err="1"/>
              <a:t>en</a:t>
            </a:r>
            <a:r>
              <a:rPr lang="en-US" sz="2000" i="1" dirty="0"/>
              <a:t> </a:t>
            </a:r>
            <a:r>
              <a:rPr lang="en-US" sz="2000" i="1" dirty="0" err="1"/>
              <a:t>cualquier</a:t>
            </a:r>
            <a:r>
              <a:rPr lang="en-US" sz="2000" i="1" dirty="0"/>
              <a:t> plan bien </a:t>
            </a:r>
            <a:r>
              <a:rPr lang="en-US" sz="2000" i="1" dirty="0" err="1"/>
              <a:t>elaborado</a:t>
            </a:r>
            <a:r>
              <a:rPr lang="en-US" sz="2000" i="1" dirty="0"/>
              <a:t>. </a:t>
            </a:r>
            <a:r>
              <a:rPr lang="en-US" sz="2000" b="1" i="1" dirty="0"/>
              <a:t>J.R.R. Tolkien </a:t>
            </a:r>
            <a:r>
              <a:rPr lang="en-US" sz="2000" i="1" dirty="0" err="1"/>
              <a:t>fue</a:t>
            </a:r>
            <a:r>
              <a:rPr lang="en-US" sz="2000" i="1" dirty="0"/>
              <a:t> un </a:t>
            </a:r>
            <a:r>
              <a:rPr lang="en-US" sz="2000" i="1" dirty="0" err="1"/>
              <a:t>escritor</a:t>
            </a:r>
            <a:r>
              <a:rPr lang="en-US" sz="2000" i="1" dirty="0"/>
              <a:t>, </a:t>
            </a:r>
            <a:r>
              <a:rPr lang="en-US" sz="2000" i="1" dirty="0" err="1"/>
              <a:t>filólogo</a:t>
            </a:r>
            <a:r>
              <a:rPr lang="en-US" sz="2000" i="1" dirty="0"/>
              <a:t> y </a:t>
            </a:r>
            <a:r>
              <a:rPr lang="en-US" sz="2000" i="1" dirty="0" err="1"/>
              <a:t>académico</a:t>
            </a:r>
            <a:r>
              <a:rPr lang="en-US" sz="2000" i="1" dirty="0"/>
              <a:t> </a:t>
            </a:r>
            <a:r>
              <a:rPr lang="en-US" sz="2000" i="1" dirty="0" err="1"/>
              <a:t>británico</a:t>
            </a:r>
            <a:r>
              <a:rPr lang="en-US" sz="2000" i="1" dirty="0"/>
              <a:t> </a:t>
            </a:r>
            <a:r>
              <a:rPr lang="en-US" sz="2000" i="1" dirty="0" err="1"/>
              <a:t>que</a:t>
            </a:r>
            <a:r>
              <a:rPr lang="en-US" sz="2000" i="1" dirty="0"/>
              <a:t> </a:t>
            </a:r>
            <a:r>
              <a:rPr lang="en-US" sz="2000" i="1" dirty="0" err="1"/>
              <a:t>revolucionó</a:t>
            </a:r>
            <a:r>
              <a:rPr lang="en-US" sz="2000" i="1" dirty="0"/>
              <a:t> la </a:t>
            </a:r>
            <a:r>
              <a:rPr lang="en-US" sz="2000" i="1" dirty="0" err="1"/>
              <a:t>literatura</a:t>
            </a:r>
            <a:r>
              <a:rPr lang="en-US" sz="2000" i="1" dirty="0"/>
              <a:t> de </a:t>
            </a:r>
            <a:r>
              <a:rPr lang="en-US" sz="2000" i="1" dirty="0" err="1"/>
              <a:t>fantasía</a:t>
            </a:r>
            <a:r>
              <a:rPr lang="en-US" sz="2000" i="1" dirty="0"/>
              <a:t> con la </a:t>
            </a:r>
            <a:r>
              <a:rPr lang="en-US" sz="2000" i="1" dirty="0" err="1"/>
              <a:t>creación</a:t>
            </a:r>
            <a:r>
              <a:rPr lang="en-US" sz="2000" i="1" dirty="0"/>
              <a:t> de </a:t>
            </a:r>
            <a:r>
              <a:rPr lang="en-US" sz="2000" i="1" dirty="0" err="1"/>
              <a:t>universos</a:t>
            </a:r>
            <a:r>
              <a:rPr lang="en-US" sz="2000" i="1" dirty="0"/>
              <a:t> </a:t>
            </a:r>
            <a:r>
              <a:rPr lang="en-US" sz="2000" i="1" dirty="0" err="1"/>
              <a:t>enteros</a:t>
            </a:r>
            <a:r>
              <a:rPr lang="en-US" sz="2000" i="1" dirty="0"/>
              <a:t> </a:t>
            </a:r>
            <a:r>
              <a:rPr lang="en-US" sz="2000" i="1" dirty="0" err="1"/>
              <a:t>en</a:t>
            </a:r>
            <a:r>
              <a:rPr lang="en-US" sz="2000" i="1" dirty="0"/>
              <a:t> </a:t>
            </a:r>
            <a:r>
              <a:rPr lang="en-US" sz="2000" i="1" dirty="0" err="1"/>
              <a:t>torno</a:t>
            </a:r>
            <a:r>
              <a:rPr lang="en-US" sz="2000" i="1" dirty="0"/>
              <a:t> a </a:t>
            </a:r>
            <a:r>
              <a:rPr lang="en-US" sz="2000" i="1" dirty="0" err="1"/>
              <a:t>su</a:t>
            </a:r>
            <a:r>
              <a:rPr lang="en-US" sz="2000" i="1" dirty="0"/>
              <a:t> </a:t>
            </a:r>
            <a:r>
              <a:rPr lang="en-US" sz="2000" i="1" dirty="0" err="1"/>
              <a:t>obra</a:t>
            </a:r>
            <a:r>
              <a:rPr lang="en-US" sz="2000" i="1" dirty="0"/>
              <a:t>. Con </a:t>
            </a:r>
            <a:r>
              <a:rPr lang="en-US" sz="2000" i="1" dirty="0" err="1"/>
              <a:t>clásicos</a:t>
            </a:r>
            <a:r>
              <a:rPr lang="en-US" sz="2000" i="1" dirty="0"/>
              <a:t> </a:t>
            </a:r>
            <a:r>
              <a:rPr lang="en-US" sz="2000" i="1" dirty="0" err="1"/>
              <a:t>como</a:t>
            </a:r>
            <a:r>
              <a:rPr lang="en-US" sz="2000" i="1" dirty="0"/>
              <a:t> El Hobbit y El </a:t>
            </a:r>
            <a:r>
              <a:rPr lang="en-US" sz="2000" i="1" dirty="0" err="1"/>
              <a:t>Señor</a:t>
            </a:r>
            <a:r>
              <a:rPr lang="en-US" sz="2000" i="1" dirty="0"/>
              <a:t> de </a:t>
            </a:r>
            <a:r>
              <a:rPr lang="en-US" sz="2000" i="1" dirty="0" err="1"/>
              <a:t>los</a:t>
            </a:r>
            <a:r>
              <a:rPr lang="en-US" sz="2000" i="1" dirty="0"/>
              <a:t> </a:t>
            </a:r>
            <a:r>
              <a:rPr lang="en-US" sz="2000" i="1" dirty="0" err="1"/>
              <a:t>Anillos</a:t>
            </a:r>
            <a:r>
              <a:rPr lang="en-US" sz="2000" i="1" dirty="0"/>
              <a:t>, sus </a:t>
            </a:r>
            <a:r>
              <a:rPr lang="en-US" sz="2000" i="1" dirty="0" err="1"/>
              <a:t>libros</a:t>
            </a:r>
            <a:r>
              <a:rPr lang="en-US" sz="2000" i="1" dirty="0"/>
              <a:t>, </a:t>
            </a:r>
            <a:r>
              <a:rPr lang="en-US" sz="2000" i="1" dirty="0" err="1"/>
              <a:t>además</a:t>
            </a:r>
            <a:r>
              <a:rPr lang="en-US" sz="2000" i="1" dirty="0"/>
              <a:t> de vender </a:t>
            </a:r>
            <a:r>
              <a:rPr lang="en-US" sz="2000" i="1" dirty="0" err="1"/>
              <a:t>millones</a:t>
            </a:r>
            <a:r>
              <a:rPr lang="en-US" sz="2000" i="1" dirty="0"/>
              <a:t> de </a:t>
            </a:r>
            <a:r>
              <a:rPr lang="en-US" sz="2000" i="1" dirty="0" err="1"/>
              <a:t>copias</a:t>
            </a:r>
            <a:r>
              <a:rPr lang="en-US" sz="2000" i="1" dirty="0"/>
              <a:t> y ser </a:t>
            </a:r>
            <a:r>
              <a:rPr lang="en-US" sz="2000" i="1" dirty="0" err="1"/>
              <a:t>adaptados</a:t>
            </a:r>
            <a:r>
              <a:rPr lang="en-US" sz="2000" i="1" dirty="0"/>
              <a:t> al cine y la </a:t>
            </a:r>
            <a:r>
              <a:rPr lang="en-US" sz="2000" i="1" dirty="0" err="1"/>
              <a:t>televisión</a:t>
            </a:r>
            <a:r>
              <a:rPr lang="en-US" sz="2000" i="1" dirty="0"/>
              <a:t>, </a:t>
            </a:r>
            <a:r>
              <a:rPr lang="en-US" sz="2000" i="1" dirty="0" err="1"/>
              <a:t>siguen</a:t>
            </a:r>
            <a:r>
              <a:rPr lang="en-US" sz="2000" i="1" dirty="0"/>
              <a:t> </a:t>
            </a:r>
            <a:r>
              <a:rPr lang="en-US" sz="2000" i="1" dirty="0" err="1"/>
              <a:t>inspirando</a:t>
            </a:r>
            <a:r>
              <a:rPr lang="en-US" sz="2000" i="1" dirty="0"/>
              <a:t> a </a:t>
            </a:r>
            <a:r>
              <a:rPr lang="en-US" sz="2000" i="1" dirty="0" err="1"/>
              <a:t>autores</a:t>
            </a:r>
            <a:r>
              <a:rPr lang="en-US" sz="2000" i="1" dirty="0"/>
              <a:t> y </a:t>
            </a:r>
            <a:r>
              <a:rPr lang="en-US" sz="2000" i="1" dirty="0" err="1"/>
              <a:t>cineastas</a:t>
            </a:r>
            <a:r>
              <a:rPr lang="en-US" sz="2000" i="1" dirty="0"/>
              <a:t> </a:t>
            </a:r>
            <a:r>
              <a:rPr lang="en-US" sz="2000" i="1" dirty="0" err="1"/>
              <a:t>en</a:t>
            </a:r>
            <a:r>
              <a:rPr lang="en-US" sz="2000" i="1" dirty="0"/>
              <a:t> </a:t>
            </a:r>
            <a:r>
              <a:rPr lang="en-US" sz="2000" i="1" dirty="0" err="1"/>
              <a:t>todo</a:t>
            </a:r>
            <a:r>
              <a:rPr lang="en-US" sz="2000" i="1" dirty="0"/>
              <a:t> el </a:t>
            </a:r>
            <a:r>
              <a:rPr lang="en-US" sz="2000" i="1" dirty="0" err="1"/>
              <a:t>mundo</a:t>
            </a:r>
            <a:r>
              <a:rPr lang="en-US" sz="2000" i="1" dirty="0"/>
              <a:t>.. </a:t>
            </a:r>
            <a:endParaRPr lang="en-CO" sz="2000" i="1" dirty="0"/>
          </a:p>
        </p:txBody>
      </p:sp>
      <p:cxnSp>
        <p:nvCxnSpPr>
          <p:cNvPr id="26635" name="Straight Connector 26634">
            <a:extLst>
              <a:ext uri="{FF2B5EF4-FFF2-40B4-BE49-F238E27FC236}">
                <a16:creationId xmlns:a16="http://schemas.microsoft.com/office/drawing/2014/main" id="{0608BEAB-78BB-F54E-B087-1CB0393E3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88536" y="3428999"/>
            <a:ext cx="4703464" cy="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637" name="Group 26636">
            <a:extLst>
              <a:ext uri="{FF2B5EF4-FFF2-40B4-BE49-F238E27FC236}">
                <a16:creationId xmlns:a16="http://schemas.microsoft.com/office/drawing/2014/main" id="{4684B970-A9BC-554F-AFC0-D4C5811B7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88851" y="0"/>
            <a:ext cx="1901686" cy="4677439"/>
            <a:chOff x="10290315" y="0"/>
            <a:chExt cx="1901686" cy="4677439"/>
          </a:xfrm>
        </p:grpSpPr>
        <p:sp>
          <p:nvSpPr>
            <p:cNvPr id="26638" name="Freeform 24">
              <a:extLst>
                <a:ext uri="{FF2B5EF4-FFF2-40B4-BE49-F238E27FC236}">
                  <a16:creationId xmlns:a16="http://schemas.microsoft.com/office/drawing/2014/main" id="{7B833146-9A26-EA41-8B79-06207BD00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639" name="Freeform 26">
              <a:extLst>
                <a:ext uri="{FF2B5EF4-FFF2-40B4-BE49-F238E27FC236}">
                  <a16:creationId xmlns:a16="http://schemas.microsoft.com/office/drawing/2014/main" id="{E4D1DD64-0D91-0641-B937-B7F8B0A5F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640" name="Freeform 28">
              <a:extLst>
                <a:ext uri="{FF2B5EF4-FFF2-40B4-BE49-F238E27FC236}">
                  <a16:creationId xmlns:a16="http://schemas.microsoft.com/office/drawing/2014/main" id="{E7C64C9D-CB02-BF42-8DC9-660F3EC73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641" name="Freeform 29">
              <a:extLst>
                <a:ext uri="{FF2B5EF4-FFF2-40B4-BE49-F238E27FC236}">
                  <a16:creationId xmlns:a16="http://schemas.microsoft.com/office/drawing/2014/main" id="{15A7E0DC-E563-4E45-8D1D-3B57D5A60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6643" name="Straight Connector 26642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635315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F37D8EE-4418-804D-A38D-C11791EBDC5A}"/>
              </a:ext>
            </a:extLst>
          </p:cNvPr>
          <p:cNvSpPr txBox="1"/>
          <p:nvPr/>
        </p:nvSpPr>
        <p:spPr>
          <a:xfrm>
            <a:off x="5089967" y="6287601"/>
            <a:ext cx="6105644" cy="362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ct val="100000"/>
              </a:lnSpc>
              <a:spcAft>
                <a:spcPts val="225"/>
              </a:spcAft>
              <a:buNone/>
            </a:pPr>
            <a:r>
              <a:rPr lang="en-CO" sz="1800" b="1" i="0" dirty="0">
                <a:solidFill>
                  <a:schemeClr val="tx1"/>
                </a:solidFill>
                <a:effectLst/>
                <a:latin typeface="+mn-lt"/>
              </a:rPr>
              <a:t>J.R.R. Tolkien</a:t>
            </a:r>
            <a:endParaRPr lang="en-CO" sz="1950" b="1" i="0" dirty="0">
              <a:solidFill>
                <a:srgbClr val="101423"/>
              </a:solidFill>
              <a:effectLst/>
              <a:latin typeface="Inter"/>
            </a:endParaRPr>
          </a:p>
        </p:txBody>
      </p:sp>
      <p:pic>
        <p:nvPicPr>
          <p:cNvPr id="8" name="Picture 7" descr="El Hobbit ilustrado - J. R. R. Tolkien, Alan Lee | PlanetadeLibros">
            <a:extLst>
              <a:ext uri="{FF2B5EF4-FFF2-40B4-BE49-F238E27FC236}">
                <a16:creationId xmlns:a16="http://schemas.microsoft.com/office/drawing/2014/main" id="{EA3C6682-EB8A-F437-3C2C-3E8A07CCA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6088" y="-6581"/>
            <a:ext cx="3530830" cy="4677440"/>
          </a:xfrm>
          <a:prstGeom prst="rect">
            <a:avLst/>
          </a:prstGeom>
        </p:spPr>
      </p:pic>
      <p:pic>
        <p:nvPicPr>
          <p:cNvPr id="6" name="Picture 5" descr="Image of J.R.R. Tolkien | Biography, Books, Movies, Middle-earth, &amp; Facts | Britannica">
            <a:extLst>
              <a:ext uri="{FF2B5EF4-FFF2-40B4-BE49-F238E27FC236}">
                <a16:creationId xmlns:a16="http://schemas.microsoft.com/office/drawing/2014/main" id="{5C4F34F6-1214-E2DF-1DF3-B5C6C6EEE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838" y="3122983"/>
            <a:ext cx="3616155" cy="360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824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7F1E8-C0B1-34F6-D88D-D34B82553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F504-BF2E-ADDD-C5BE-E21A6CBA3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“Un </a:t>
            </a:r>
            <a:r>
              <a:rPr lang="en-US" i="1" dirty="0" err="1"/>
              <a:t>objetivo</a:t>
            </a:r>
            <a:r>
              <a:rPr lang="en-US" i="1" dirty="0"/>
              <a:t> sin un plan es solo un </a:t>
            </a:r>
            <a:r>
              <a:rPr lang="en-US" i="1" dirty="0" err="1"/>
              <a:t>deseo</a:t>
            </a:r>
            <a:r>
              <a:rPr lang="en-US" i="1" dirty="0"/>
              <a:t>.”</a:t>
            </a:r>
            <a:endParaRPr lang="en-CO" dirty="0"/>
          </a:p>
        </p:txBody>
      </p:sp>
    </p:spTree>
    <p:extLst>
      <p:ext uri="{BB962C8B-B14F-4D97-AF65-F5344CB8AC3E}">
        <p14:creationId xmlns:p14="http://schemas.microsoft.com/office/powerpoint/2010/main" val="2191959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71708-6187-2B5C-F950-4A39C2A84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657" name="Rectangle 27656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659" name="Group 27658">
            <a:extLst>
              <a:ext uri="{FF2B5EF4-FFF2-40B4-BE49-F238E27FC236}">
                <a16:creationId xmlns:a16="http://schemas.microsoft.com/office/drawing/2014/main" id="{7A00BDF4-7643-A942-A588-F24E4E09A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27660" name="Freeform 32">
              <a:extLst>
                <a:ext uri="{FF2B5EF4-FFF2-40B4-BE49-F238E27FC236}">
                  <a16:creationId xmlns:a16="http://schemas.microsoft.com/office/drawing/2014/main" id="{90B25A21-16B9-8D47-928B-2367A0B8C0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661" name="Freeform 34">
              <a:extLst>
                <a:ext uri="{FF2B5EF4-FFF2-40B4-BE49-F238E27FC236}">
                  <a16:creationId xmlns:a16="http://schemas.microsoft.com/office/drawing/2014/main" id="{E5E64190-3AC0-0A48-9917-5FAE935A8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662" name="Freeform 47">
              <a:extLst>
                <a:ext uri="{FF2B5EF4-FFF2-40B4-BE49-F238E27FC236}">
                  <a16:creationId xmlns:a16="http://schemas.microsoft.com/office/drawing/2014/main" id="{AE71CDB8-B430-F14E-99C8-E6AAB8E21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663" name="Freeform 48">
              <a:extLst>
                <a:ext uri="{FF2B5EF4-FFF2-40B4-BE49-F238E27FC236}">
                  <a16:creationId xmlns:a16="http://schemas.microsoft.com/office/drawing/2014/main" id="{DCA37B0A-FCCC-7642-B70D-56AD50049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A4F2C5-14B7-ACED-B98E-083FD4A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3180" y="770890"/>
            <a:ext cx="6795560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i="1" dirty="0"/>
              <a:t>“Un </a:t>
            </a:r>
            <a:r>
              <a:rPr lang="en-US" i="1" dirty="0" err="1"/>
              <a:t>objetivo</a:t>
            </a:r>
            <a:r>
              <a:rPr lang="en-US" i="1" dirty="0"/>
              <a:t> sin un plan es solo un </a:t>
            </a:r>
            <a:r>
              <a:rPr lang="en-US" i="1" dirty="0" err="1"/>
              <a:t>deseo</a:t>
            </a:r>
            <a:r>
              <a:rPr lang="en-US" i="1" dirty="0"/>
              <a:t>.”</a:t>
            </a:r>
            <a:endParaRPr lang="en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551B8-AF91-3773-7AB9-569AB690D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3180" y="2160016"/>
            <a:ext cx="6795560" cy="36012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i="1" dirty="0" err="1"/>
              <a:t>Escritor</a:t>
            </a:r>
            <a:r>
              <a:rPr lang="en-US" sz="2200" i="1" dirty="0"/>
              <a:t> y </a:t>
            </a:r>
            <a:r>
              <a:rPr lang="en-US" sz="2200" i="1" dirty="0" err="1"/>
              <a:t>aviador</a:t>
            </a:r>
            <a:r>
              <a:rPr lang="en-US" sz="2200" i="1" dirty="0"/>
              <a:t> </a:t>
            </a:r>
            <a:r>
              <a:rPr lang="en-US" sz="2200" i="1" dirty="0" err="1"/>
              <a:t>francés</a:t>
            </a:r>
            <a:r>
              <a:rPr lang="en-US" sz="2200" i="1" dirty="0"/>
              <a:t>, </a:t>
            </a:r>
            <a:r>
              <a:rPr lang="en-US" sz="2200" i="1" dirty="0" err="1"/>
              <a:t>autor</a:t>
            </a:r>
            <a:r>
              <a:rPr lang="en-US" sz="2200" i="1" dirty="0"/>
              <a:t> de la </a:t>
            </a:r>
            <a:r>
              <a:rPr lang="en-US" sz="2200" i="1" dirty="0" err="1"/>
              <a:t>famosa</a:t>
            </a:r>
            <a:r>
              <a:rPr lang="en-US" sz="2200" i="1" dirty="0"/>
              <a:t> </a:t>
            </a:r>
            <a:r>
              <a:rPr lang="en-US" sz="2200" i="1" dirty="0" err="1"/>
              <a:t>obra</a:t>
            </a:r>
            <a:r>
              <a:rPr lang="en-US" sz="2200" i="1" dirty="0"/>
              <a:t> El </a:t>
            </a:r>
            <a:r>
              <a:rPr lang="en-US" sz="2200" i="1" dirty="0" err="1"/>
              <a:t>Principito</a:t>
            </a:r>
            <a:r>
              <a:rPr lang="en-US" sz="2200" i="1" dirty="0"/>
              <a:t>, </a:t>
            </a:r>
            <a:r>
              <a:rPr lang="en-US" sz="2200" i="1" dirty="0" err="1"/>
              <a:t>traducida</a:t>
            </a:r>
            <a:r>
              <a:rPr lang="en-US" sz="2200" i="1" dirty="0"/>
              <a:t> a </a:t>
            </a:r>
            <a:r>
              <a:rPr lang="en-US" sz="2200" i="1" dirty="0" err="1"/>
              <a:t>más</a:t>
            </a:r>
            <a:r>
              <a:rPr lang="en-US" sz="2200" i="1" dirty="0"/>
              <a:t> de 300 </a:t>
            </a:r>
            <a:r>
              <a:rPr lang="en-US" sz="2200" i="1" dirty="0" err="1"/>
              <a:t>idiomas</a:t>
            </a:r>
            <a:r>
              <a:rPr lang="en-US" sz="2200" i="1" dirty="0"/>
              <a:t>. Como </a:t>
            </a:r>
            <a:r>
              <a:rPr lang="en-US" sz="2200" i="1" dirty="0" err="1"/>
              <a:t>piloto</a:t>
            </a:r>
            <a:r>
              <a:rPr lang="en-US" sz="2200" i="1" dirty="0"/>
              <a:t> de </a:t>
            </a:r>
            <a:r>
              <a:rPr lang="en-US" sz="2200" i="1" dirty="0" err="1"/>
              <a:t>aviación</a:t>
            </a:r>
            <a:r>
              <a:rPr lang="en-US" sz="2200" i="1" dirty="0"/>
              <a:t>, </a:t>
            </a:r>
            <a:r>
              <a:rPr lang="en-US" sz="2200" i="1" dirty="0" err="1"/>
              <a:t>vivió</a:t>
            </a:r>
            <a:r>
              <a:rPr lang="en-US" sz="2200" i="1" dirty="0"/>
              <a:t> </a:t>
            </a:r>
            <a:r>
              <a:rPr lang="en-US" sz="2200" i="1" dirty="0" err="1"/>
              <a:t>intensamente</a:t>
            </a:r>
            <a:r>
              <a:rPr lang="en-US" sz="2200" i="1" dirty="0"/>
              <a:t> la </a:t>
            </a:r>
            <a:r>
              <a:rPr lang="en-US" sz="2200" i="1" dirty="0" err="1"/>
              <a:t>experiencia</a:t>
            </a:r>
            <a:r>
              <a:rPr lang="en-US" sz="2200" i="1" dirty="0"/>
              <a:t> de volar </a:t>
            </a:r>
            <a:r>
              <a:rPr lang="en-US" sz="2200" i="1" dirty="0" err="1"/>
              <a:t>en</a:t>
            </a:r>
            <a:r>
              <a:rPr lang="en-US" sz="2200" i="1" dirty="0"/>
              <a:t> </a:t>
            </a:r>
            <a:r>
              <a:rPr lang="en-US" sz="2200" i="1" dirty="0" err="1"/>
              <a:t>entornos</a:t>
            </a:r>
            <a:r>
              <a:rPr lang="en-US" sz="2200" i="1" dirty="0"/>
              <a:t> hostiles, lo que </a:t>
            </a:r>
            <a:r>
              <a:rPr lang="en-US" sz="2200" i="1" dirty="0" err="1"/>
              <a:t>inspiró</a:t>
            </a:r>
            <a:r>
              <a:rPr lang="en-US" sz="2200" i="1" dirty="0"/>
              <a:t> gran </a:t>
            </a:r>
            <a:r>
              <a:rPr lang="en-US" sz="2200" i="1" dirty="0" err="1"/>
              <a:t>parte</a:t>
            </a:r>
            <a:r>
              <a:rPr lang="en-US" sz="2200" i="1" dirty="0"/>
              <a:t> de </a:t>
            </a:r>
            <a:r>
              <a:rPr lang="en-US" sz="2200" i="1" dirty="0" err="1"/>
              <a:t>su</a:t>
            </a:r>
            <a:r>
              <a:rPr lang="en-US" sz="2200" i="1" dirty="0"/>
              <a:t> </a:t>
            </a:r>
            <a:r>
              <a:rPr lang="en-US" sz="2200" i="1" dirty="0" err="1"/>
              <a:t>obra</a:t>
            </a:r>
            <a:r>
              <a:rPr lang="en-US" sz="2200" i="1" dirty="0"/>
              <a:t>. Su </a:t>
            </a:r>
            <a:r>
              <a:rPr lang="en-US" sz="2200" i="1" dirty="0" err="1"/>
              <a:t>narrativa</a:t>
            </a:r>
            <a:r>
              <a:rPr lang="en-US" sz="2200" i="1" dirty="0"/>
              <a:t> </a:t>
            </a:r>
            <a:r>
              <a:rPr lang="en-US" sz="2200" i="1" dirty="0" err="1"/>
              <a:t>combina</a:t>
            </a:r>
            <a:r>
              <a:rPr lang="en-US" sz="2200" i="1" dirty="0"/>
              <a:t> </a:t>
            </a:r>
            <a:r>
              <a:rPr lang="en-US" sz="2200" i="1" dirty="0" err="1"/>
              <a:t>poesía</a:t>
            </a:r>
            <a:r>
              <a:rPr lang="en-US" sz="2200" i="1" dirty="0"/>
              <a:t>, </a:t>
            </a:r>
            <a:r>
              <a:rPr lang="en-US" sz="2200" i="1" dirty="0" err="1"/>
              <a:t>filosofía</a:t>
            </a:r>
            <a:r>
              <a:rPr lang="en-US" sz="2200" i="1" dirty="0"/>
              <a:t> y </a:t>
            </a:r>
            <a:r>
              <a:rPr lang="en-US" sz="2200" i="1" dirty="0" err="1"/>
              <a:t>humanismo</a:t>
            </a:r>
            <a:r>
              <a:rPr lang="en-US" sz="2200" i="1" dirty="0"/>
              <a:t>, con </a:t>
            </a:r>
            <a:r>
              <a:rPr lang="en-US" sz="2200" i="1" dirty="0" err="1"/>
              <a:t>una</a:t>
            </a:r>
            <a:r>
              <a:rPr lang="en-US" sz="2200" i="1" dirty="0"/>
              <a:t> </a:t>
            </a:r>
            <a:r>
              <a:rPr lang="en-US" sz="2200" i="1" dirty="0" err="1"/>
              <a:t>mirada</a:t>
            </a:r>
            <a:r>
              <a:rPr lang="en-US" sz="2200" i="1" dirty="0"/>
              <a:t> </a:t>
            </a:r>
            <a:r>
              <a:rPr lang="en-US" sz="2200" i="1" dirty="0" err="1"/>
              <a:t>crítica</a:t>
            </a:r>
            <a:r>
              <a:rPr lang="en-US" sz="2200" i="1" dirty="0"/>
              <a:t> </a:t>
            </a:r>
            <a:r>
              <a:rPr lang="en-US" sz="2200" i="1" dirty="0" err="1"/>
              <a:t>sobre</a:t>
            </a:r>
            <a:r>
              <a:rPr lang="en-US" sz="2200" i="1" dirty="0"/>
              <a:t> la </a:t>
            </a:r>
            <a:r>
              <a:rPr lang="en-US" sz="2200" i="1" dirty="0" err="1"/>
              <a:t>sociedad</a:t>
            </a:r>
            <a:r>
              <a:rPr lang="en-US" sz="2200" i="1" dirty="0"/>
              <a:t> moderna. </a:t>
            </a:r>
            <a:r>
              <a:rPr lang="en-US" sz="2200" i="1" dirty="0" err="1"/>
              <a:t>Desapareció</a:t>
            </a:r>
            <a:r>
              <a:rPr lang="en-US" sz="2200" i="1" dirty="0"/>
              <a:t> </a:t>
            </a:r>
            <a:r>
              <a:rPr lang="en-US" sz="2200" i="1" dirty="0" err="1"/>
              <a:t>en</a:t>
            </a:r>
            <a:r>
              <a:rPr lang="en-US" sz="2200" i="1" dirty="0"/>
              <a:t> 1944 </a:t>
            </a:r>
            <a:r>
              <a:rPr lang="en-US" sz="2200" i="1" dirty="0" err="1"/>
              <a:t>durante</a:t>
            </a:r>
            <a:r>
              <a:rPr lang="en-US" sz="2200" i="1" dirty="0"/>
              <a:t> </a:t>
            </a:r>
            <a:r>
              <a:rPr lang="en-US" sz="2200" i="1" dirty="0" err="1"/>
              <a:t>una</a:t>
            </a:r>
            <a:r>
              <a:rPr lang="en-US" sz="2200" i="1" dirty="0"/>
              <a:t> </a:t>
            </a:r>
            <a:r>
              <a:rPr lang="en-US" sz="2200" i="1" dirty="0" err="1"/>
              <a:t>misión</a:t>
            </a:r>
            <a:r>
              <a:rPr lang="en-US" sz="2200" i="1" dirty="0"/>
              <a:t> </a:t>
            </a:r>
            <a:r>
              <a:rPr lang="en-US" sz="2200" i="1" dirty="0" err="1"/>
              <a:t>aérea</a:t>
            </a:r>
            <a:r>
              <a:rPr lang="en-US" sz="2200" i="1" dirty="0"/>
              <a:t> </a:t>
            </a:r>
            <a:r>
              <a:rPr lang="en-US" sz="2200" i="1" dirty="0" err="1"/>
              <a:t>en</a:t>
            </a:r>
            <a:r>
              <a:rPr lang="en-US" sz="2200" i="1" dirty="0"/>
              <a:t> la Segunda Guerra Mundial, </a:t>
            </a:r>
            <a:r>
              <a:rPr lang="en-US" sz="2200" i="1" dirty="0" err="1"/>
              <a:t>dejando</a:t>
            </a:r>
            <a:r>
              <a:rPr lang="en-US" sz="2200" i="1" dirty="0"/>
              <a:t> un </a:t>
            </a:r>
            <a:r>
              <a:rPr lang="en-US" sz="2200" i="1" dirty="0" err="1"/>
              <a:t>legado</a:t>
            </a:r>
            <a:r>
              <a:rPr lang="en-US" sz="2200" i="1" dirty="0"/>
              <a:t> </a:t>
            </a:r>
            <a:r>
              <a:rPr lang="en-US" sz="2200" i="1" dirty="0" err="1"/>
              <a:t>literario</a:t>
            </a:r>
            <a:r>
              <a:rPr lang="en-US" sz="2200" i="1" dirty="0"/>
              <a:t> que </a:t>
            </a:r>
            <a:r>
              <a:rPr lang="en-US" sz="2200" i="1" dirty="0" err="1"/>
              <a:t>invita</a:t>
            </a:r>
            <a:r>
              <a:rPr lang="en-US" sz="2200" i="1" dirty="0"/>
              <a:t> a </a:t>
            </a:r>
            <a:r>
              <a:rPr lang="en-US" sz="2200" i="1" dirty="0" err="1"/>
              <a:t>soñar</a:t>
            </a:r>
            <a:r>
              <a:rPr lang="en-US" sz="2200" i="1" dirty="0"/>
              <a:t> y a </a:t>
            </a:r>
            <a:r>
              <a:rPr lang="en-US" sz="2200" i="1" dirty="0" err="1"/>
              <a:t>planificar</a:t>
            </a:r>
            <a:r>
              <a:rPr lang="en-US" sz="2200" i="1" dirty="0"/>
              <a:t> con </a:t>
            </a:r>
            <a:r>
              <a:rPr lang="en-US" sz="2200" i="1" dirty="0" err="1"/>
              <a:t>propósito</a:t>
            </a:r>
            <a:r>
              <a:rPr lang="en-US" sz="2200" i="1" dirty="0"/>
              <a:t>.</a:t>
            </a:r>
            <a:endParaRPr lang="en-CO" sz="2200" i="1" dirty="0"/>
          </a:p>
        </p:txBody>
      </p:sp>
      <p:cxnSp>
        <p:nvCxnSpPr>
          <p:cNvPr id="27665" name="Straight Connector 27664">
            <a:extLst>
              <a:ext uri="{FF2B5EF4-FFF2-40B4-BE49-F238E27FC236}">
                <a16:creationId xmlns:a16="http://schemas.microsoft.com/office/drawing/2014/main" id="{AD36798F-FAB1-724D-8B51-AA8BC0FE7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2757" y="3428999"/>
            <a:ext cx="4173576" cy="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67" name="Straight Connector 27666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43180" y="6087110"/>
            <a:ext cx="688798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83994CB-7ECB-095F-E24C-E63FF9275451}"/>
              </a:ext>
            </a:extLst>
          </p:cNvPr>
          <p:cNvSpPr txBox="1"/>
          <p:nvPr/>
        </p:nvSpPr>
        <p:spPr>
          <a:xfrm>
            <a:off x="4427316" y="6218639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O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A De Saint-Exupéry</a:t>
            </a:r>
            <a:endParaRPr lang="en-CO" b="1" dirty="0"/>
          </a:p>
        </p:txBody>
      </p:sp>
      <p:pic>
        <p:nvPicPr>
          <p:cNvPr id="6" name="Picture 5" descr="El Principito | Antoine de Saint-Exupéry | Plutón Ediciones | Casa del  Libro Colombia">
            <a:extLst>
              <a:ext uri="{FF2B5EF4-FFF2-40B4-BE49-F238E27FC236}">
                <a16:creationId xmlns:a16="http://schemas.microsoft.com/office/drawing/2014/main" id="{49B4B112-5F36-81F9-637A-93370B5D9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23" y="0"/>
            <a:ext cx="3397652" cy="4768634"/>
          </a:xfrm>
          <a:prstGeom prst="rect">
            <a:avLst/>
          </a:prstGeom>
        </p:spPr>
      </p:pic>
      <p:pic>
        <p:nvPicPr>
          <p:cNvPr id="27650" name="Picture 2" descr="Se cumplen 120 años del nacimiento de Antoine de Saint-Exupéry - Gaceta UNAM">
            <a:extLst>
              <a:ext uri="{FF2B5EF4-FFF2-40B4-BE49-F238E27FC236}">
                <a16:creationId xmlns:a16="http://schemas.microsoft.com/office/drawing/2014/main" id="{ED90293D-6009-3644-8752-AC28FBAC2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1" r="2" b="2"/>
          <a:stretch>
            <a:fillRect/>
          </a:stretch>
        </p:blipFill>
        <p:spPr bwMode="auto">
          <a:xfrm>
            <a:off x="271193" y="3263143"/>
            <a:ext cx="4170223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0831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84" name="Rectangle 4183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86" name="Group 4185">
            <a:extLst>
              <a:ext uri="{FF2B5EF4-FFF2-40B4-BE49-F238E27FC236}">
                <a16:creationId xmlns:a16="http://schemas.microsoft.com/office/drawing/2014/main" id="{70EBDB1D-17AA-8140-B216-35CBA8C9E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187" name="Freeform 34">
              <a:extLst>
                <a:ext uri="{FF2B5EF4-FFF2-40B4-BE49-F238E27FC236}">
                  <a16:creationId xmlns:a16="http://schemas.microsoft.com/office/drawing/2014/main" id="{98E3FFBE-BCB2-4744-8CA3-BC11F11AD4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88" name="Freeform 36">
              <a:extLst>
                <a:ext uri="{FF2B5EF4-FFF2-40B4-BE49-F238E27FC236}">
                  <a16:creationId xmlns:a16="http://schemas.microsoft.com/office/drawing/2014/main" id="{BBD5B432-1551-644A-B937-54EFF4201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89" name="Freeform 38">
              <a:extLst>
                <a:ext uri="{FF2B5EF4-FFF2-40B4-BE49-F238E27FC236}">
                  <a16:creationId xmlns:a16="http://schemas.microsoft.com/office/drawing/2014/main" id="{BDCFB512-5A0E-0143-B5B7-6A965E100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90" name="Freeform 50">
              <a:extLst>
                <a:ext uri="{FF2B5EF4-FFF2-40B4-BE49-F238E27FC236}">
                  <a16:creationId xmlns:a16="http://schemas.microsoft.com/office/drawing/2014/main" id="{EEDAA716-EDDF-5941-A55E-C12C893A3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F6801CD-A838-1261-5A99-CD6FBE4C8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280" y="770890"/>
            <a:ext cx="4133560" cy="126898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…Para entrar en calor…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29E74-3980-B016-3510-F5251E050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280" y="4677438"/>
            <a:ext cx="4133560" cy="108378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https://www.youtube.com/watch?v=gar9yD_-zEk&amp;t=8s</a:t>
            </a:r>
            <a:r>
              <a:rPr lang="en-US" dirty="0"/>
              <a:t> </a:t>
            </a:r>
          </a:p>
        </p:txBody>
      </p:sp>
      <p:pic>
        <p:nvPicPr>
          <p:cNvPr id="4100" name="Picture 4" descr="Shh! We Have a Plan Haughton, Chris : Chris Haughton: Amazon.com.mx:  Juguetes y Juegos">
            <a:extLst>
              <a:ext uri="{FF2B5EF4-FFF2-40B4-BE49-F238E27FC236}">
                <a16:creationId xmlns:a16="http://schemas.microsoft.com/office/drawing/2014/main" id="{FC560505-BFAD-1EEC-D3BE-5A02E38BC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3" r="1" b="1"/>
          <a:stretch>
            <a:fillRect/>
          </a:stretch>
        </p:blipFill>
        <p:spPr bwMode="auto">
          <a:xfrm>
            <a:off x="20" y="1"/>
            <a:ext cx="6927143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92" name="Straight Connector 4191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93279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534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The making of: Shh! We have a plan – Chris Haughton">
            <a:extLst>
              <a:ext uri="{FF2B5EF4-FFF2-40B4-BE49-F238E27FC236}">
                <a16:creationId xmlns:a16="http://schemas.microsoft.com/office/drawing/2014/main" id="{C8C1026B-AC3A-006B-70D3-E23ACB109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1" r="5815" b="1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9" name="Rectangle">
            <a:extLst>
              <a:ext uri="{FF2B5EF4-FFF2-40B4-BE49-F238E27FC236}">
                <a16:creationId xmlns:a16="http://schemas.microsoft.com/office/drawing/2014/main" id="{14ACB00F-615E-0E4F-9794-329E08F6E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8469492" cy="6858000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FD001-FF92-7F61-EBC6-3153E6435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</p:spPr>
        <p:txBody>
          <a:bodyPr>
            <a:normAutofit/>
          </a:bodyPr>
          <a:lstStyle/>
          <a:p>
            <a:r>
              <a:rPr lang="en-CO" dirty="0"/>
              <a:t>...¿que aprender?...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8905B-6025-9545-7076-58CD9E13B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160016"/>
            <a:ext cx="7335835" cy="36012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/>
              <a:t>Trama simple </a:t>
            </a:r>
            <a:r>
              <a:rPr lang="en-US" sz="2000" b="1" err="1"/>
              <a:t>pero</a:t>
            </a:r>
            <a:r>
              <a:rPr lang="en-US" sz="2000" b="1"/>
              <a:t> </a:t>
            </a:r>
            <a:r>
              <a:rPr lang="en-US" sz="2000" b="1" err="1"/>
              <a:t>poderosa</a:t>
            </a:r>
            <a:r>
              <a:rPr lang="en-US" sz="2000"/>
              <a:t>: Cuatro </a:t>
            </a:r>
            <a:r>
              <a:rPr lang="en-US" sz="2000" err="1"/>
              <a:t>personajes</a:t>
            </a:r>
            <a:r>
              <a:rPr lang="en-US" sz="2000"/>
              <a:t> </a:t>
            </a:r>
            <a:r>
              <a:rPr lang="en-US" sz="2000" err="1"/>
              <a:t>avanzan</a:t>
            </a:r>
            <a:r>
              <a:rPr lang="en-US" sz="2000"/>
              <a:t> 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el</a:t>
            </a:r>
            <a:r>
              <a:rPr lang="en-US" sz="2000"/>
              <a:t> bosque con redes, </a:t>
            </a:r>
            <a:r>
              <a:rPr lang="en-US" sz="2000" err="1"/>
              <a:t>decididos</a:t>
            </a:r>
            <a:r>
              <a:rPr lang="en-US" sz="2000"/>
              <a:t> a </a:t>
            </a:r>
            <a:r>
              <a:rPr lang="en-US" sz="2000" err="1"/>
              <a:t>atrapar</a:t>
            </a:r>
            <a:r>
              <a:rPr lang="en-US" sz="2000"/>
              <a:t> un </a:t>
            </a:r>
            <a:r>
              <a:rPr lang="en-US" sz="2000" err="1"/>
              <a:t>ave.</a:t>
            </a:r>
            <a:r>
              <a:rPr lang="en-US" sz="2000"/>
              <a:t> Se </a:t>
            </a:r>
            <a:r>
              <a:rPr lang="en-US" sz="2000" err="1"/>
              <a:t>preparan</a:t>
            </a:r>
            <a:r>
              <a:rPr lang="en-US" sz="2000"/>
              <a:t>, </a:t>
            </a:r>
            <a:r>
              <a:rPr lang="en-US" sz="2000" err="1"/>
              <a:t>cuentan</a:t>
            </a:r>
            <a:r>
              <a:rPr lang="en-US" sz="2000"/>
              <a:t> “¡</a:t>
            </a:r>
            <a:r>
              <a:rPr lang="en-US" sz="2000" err="1"/>
              <a:t>Listos</a:t>
            </a:r>
            <a:r>
              <a:rPr lang="en-US" sz="2000"/>
              <a:t>… uno, dos, </a:t>
            </a:r>
            <a:r>
              <a:rPr lang="en-US" sz="2000" err="1"/>
              <a:t>tres</a:t>
            </a:r>
            <a:r>
              <a:rPr lang="en-US" sz="2000"/>
              <a:t>… y </a:t>
            </a:r>
            <a:r>
              <a:rPr lang="en-US" sz="2000" err="1"/>
              <a:t>ya</a:t>
            </a:r>
            <a:r>
              <a:rPr lang="en-US" sz="2000"/>
              <a:t>!” y </a:t>
            </a:r>
            <a:r>
              <a:rPr lang="en-US" sz="2000" err="1"/>
              <a:t>fallan</a:t>
            </a:r>
            <a:r>
              <a:rPr lang="en-US" sz="2000"/>
              <a:t>, </a:t>
            </a:r>
            <a:r>
              <a:rPr lang="en-US" sz="2000" err="1"/>
              <a:t>repetidamente</a:t>
            </a:r>
            <a:r>
              <a:rPr lang="en-US" sz="2000"/>
              <a:t>.</a:t>
            </a:r>
          </a:p>
          <a:p>
            <a:pPr>
              <a:lnSpc>
                <a:spcPct val="90000"/>
              </a:lnSpc>
            </a:pPr>
            <a:r>
              <a:rPr lang="en-US" sz="2000"/>
              <a:t>El </a:t>
            </a:r>
            <a:r>
              <a:rPr lang="en-US" sz="2000" err="1"/>
              <a:t>menor</a:t>
            </a:r>
            <a:r>
              <a:rPr lang="en-US" sz="2000"/>
              <a:t> del </a:t>
            </a:r>
            <a:r>
              <a:rPr lang="en-US" sz="2000" err="1"/>
              <a:t>grupo</a:t>
            </a:r>
            <a:r>
              <a:rPr lang="en-US" sz="2000"/>
              <a:t> </a:t>
            </a:r>
            <a:r>
              <a:rPr lang="en-US" sz="2000" err="1"/>
              <a:t>intenta</a:t>
            </a:r>
            <a:r>
              <a:rPr lang="en-US" sz="2000"/>
              <a:t> </a:t>
            </a:r>
            <a:r>
              <a:rPr lang="en-US" sz="2000" err="1"/>
              <a:t>otro</a:t>
            </a:r>
            <a:r>
              <a:rPr lang="en-US" sz="2000"/>
              <a:t> </a:t>
            </a:r>
            <a:r>
              <a:rPr lang="en-US" sz="2000" err="1"/>
              <a:t>enfoque</a:t>
            </a:r>
            <a:r>
              <a:rPr lang="en-US" sz="2000"/>
              <a:t>: </a:t>
            </a:r>
            <a:r>
              <a:rPr lang="en-US" sz="2000" err="1"/>
              <a:t>ofrece</a:t>
            </a:r>
            <a:r>
              <a:rPr lang="en-US" sz="2000"/>
              <a:t> </a:t>
            </a:r>
            <a:r>
              <a:rPr lang="en-US" sz="2000" err="1"/>
              <a:t>migas</a:t>
            </a:r>
            <a:r>
              <a:rPr lang="en-US" sz="2000"/>
              <a:t> de pan 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lugar</a:t>
            </a:r>
            <a:r>
              <a:rPr lang="en-US" sz="2000"/>
              <a:t> de redes. Y 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vez</a:t>
            </a:r>
            <a:r>
              <a:rPr lang="en-US" sz="2000"/>
              <a:t> de </a:t>
            </a:r>
            <a:r>
              <a:rPr lang="en-US" sz="2000" err="1"/>
              <a:t>huir</a:t>
            </a:r>
            <a:r>
              <a:rPr lang="en-US" sz="2000"/>
              <a:t>, ¡</a:t>
            </a:r>
            <a:r>
              <a:rPr lang="en-US" sz="2000" err="1"/>
              <a:t>el</a:t>
            </a:r>
            <a:r>
              <a:rPr lang="en-US" sz="2000"/>
              <a:t> </a:t>
            </a:r>
            <a:r>
              <a:rPr lang="en-US" sz="2000" err="1"/>
              <a:t>pájaro</a:t>
            </a:r>
            <a:r>
              <a:rPr lang="en-US" sz="2000"/>
              <a:t> se </a:t>
            </a:r>
            <a:r>
              <a:rPr lang="en-US" sz="2000" err="1"/>
              <a:t>acerca</a:t>
            </a:r>
            <a:r>
              <a:rPr lang="en-US" sz="2000"/>
              <a:t>!</a:t>
            </a:r>
          </a:p>
          <a:p>
            <a:pPr>
              <a:lnSpc>
                <a:spcPct val="90000"/>
              </a:lnSpc>
            </a:pPr>
            <a:r>
              <a:rPr lang="en-US" sz="2000" b="1" err="1"/>
              <a:t>Mensaje</a:t>
            </a:r>
            <a:r>
              <a:rPr lang="en-US" sz="2000" b="1"/>
              <a:t> central</a:t>
            </a:r>
            <a:r>
              <a:rPr lang="en-US" sz="2000"/>
              <a:t>: A </a:t>
            </a:r>
            <a:r>
              <a:rPr lang="en-US" sz="2000" err="1"/>
              <a:t>veces</a:t>
            </a:r>
            <a:r>
              <a:rPr lang="en-US" sz="2000"/>
              <a:t> la </a:t>
            </a:r>
            <a:r>
              <a:rPr lang="en-US" sz="2000" err="1"/>
              <a:t>planificación</a:t>
            </a:r>
            <a:r>
              <a:rPr lang="en-US" sz="2000"/>
              <a:t> </a:t>
            </a:r>
            <a:r>
              <a:rPr lang="en-US" sz="2000" err="1"/>
              <a:t>basada</a:t>
            </a:r>
            <a:r>
              <a:rPr lang="en-US" sz="2000"/>
              <a:t> 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fuerza</a:t>
            </a:r>
            <a:r>
              <a:rPr lang="en-US" sz="2000"/>
              <a:t> o </a:t>
            </a:r>
            <a:r>
              <a:rPr lang="en-US" sz="2000" err="1"/>
              <a:t>en</a:t>
            </a:r>
            <a:r>
              <a:rPr lang="en-US" sz="2000"/>
              <a:t> </a:t>
            </a:r>
            <a:r>
              <a:rPr lang="en-US" sz="2000" err="1"/>
              <a:t>métodos</a:t>
            </a:r>
            <a:r>
              <a:rPr lang="en-US" sz="2000"/>
              <a:t> </a:t>
            </a:r>
            <a:r>
              <a:rPr lang="en-US" sz="2000" err="1"/>
              <a:t>rígidos</a:t>
            </a:r>
            <a:r>
              <a:rPr lang="en-US" sz="2000"/>
              <a:t> </a:t>
            </a:r>
            <a:r>
              <a:rPr lang="en-US" sz="2000" err="1"/>
              <a:t>fracasa</a:t>
            </a:r>
            <a:r>
              <a:rPr lang="en-US" sz="2000"/>
              <a:t>, </a:t>
            </a:r>
            <a:r>
              <a:rPr lang="en-US" sz="2000" err="1"/>
              <a:t>mientras</a:t>
            </a:r>
            <a:r>
              <a:rPr lang="en-US" sz="2000"/>
              <a:t> que la </a:t>
            </a:r>
            <a:r>
              <a:rPr lang="en-US" sz="2000" err="1"/>
              <a:t>empatía</a:t>
            </a:r>
            <a:r>
              <a:rPr lang="en-US" sz="2000"/>
              <a:t>, la </a:t>
            </a:r>
            <a:r>
              <a:rPr lang="en-US" sz="2000" err="1"/>
              <a:t>observación</a:t>
            </a:r>
            <a:r>
              <a:rPr lang="en-US" sz="2000"/>
              <a:t> y un </a:t>
            </a:r>
            <a:r>
              <a:rPr lang="en-US" sz="2000" err="1"/>
              <a:t>enfoque</a:t>
            </a:r>
            <a:r>
              <a:rPr lang="en-US" sz="2000"/>
              <a:t> </a:t>
            </a:r>
            <a:r>
              <a:rPr lang="en-US" sz="2000" err="1"/>
              <a:t>más</a:t>
            </a:r>
            <a:r>
              <a:rPr lang="en-US" sz="2000"/>
              <a:t> suave (o </a:t>
            </a:r>
            <a:r>
              <a:rPr lang="en-US" sz="2000" err="1"/>
              <a:t>creativo</a:t>
            </a:r>
            <a:r>
              <a:rPr lang="en-US" sz="2000"/>
              <a:t>) </a:t>
            </a:r>
            <a:r>
              <a:rPr lang="en-US" sz="2000" err="1"/>
              <a:t>funcionan</a:t>
            </a:r>
            <a:r>
              <a:rPr lang="en-US" sz="2000"/>
              <a:t> </a:t>
            </a:r>
            <a:r>
              <a:rPr lang="en-US" sz="2000" err="1"/>
              <a:t>mejor</a:t>
            </a:r>
            <a:r>
              <a:rPr lang="en-US" sz="2000"/>
              <a:t>.</a:t>
            </a:r>
          </a:p>
        </p:txBody>
      </p:sp>
      <p:cxnSp>
        <p:nvCxnSpPr>
          <p:cNvPr id="5131" name="Straight Connector 5130">
            <a:extLst>
              <a:ext uri="{FF2B5EF4-FFF2-40B4-BE49-F238E27FC236}">
                <a16:creationId xmlns:a16="http://schemas.microsoft.com/office/drawing/2014/main" id="{1D2BBFA3-6EA8-1C48-B3A5-DFCC389D2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33" name="Group 5132">
            <a:extLst>
              <a:ext uri="{FF2B5EF4-FFF2-40B4-BE49-F238E27FC236}">
                <a16:creationId xmlns:a16="http://schemas.microsoft.com/office/drawing/2014/main" id="{35B55452-0B37-B747-9C68-70C4EF8F7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5134" name="Freeform 41">
              <a:extLst>
                <a:ext uri="{FF2B5EF4-FFF2-40B4-BE49-F238E27FC236}">
                  <a16:creationId xmlns:a16="http://schemas.microsoft.com/office/drawing/2014/main" id="{CBBA7287-7E9D-884B-93D7-D56B52ADE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35" name="Freeform 42">
              <a:extLst>
                <a:ext uri="{FF2B5EF4-FFF2-40B4-BE49-F238E27FC236}">
                  <a16:creationId xmlns:a16="http://schemas.microsoft.com/office/drawing/2014/main" id="{E09BD6CA-D4FC-1041-9A4A-5BD33DDEDE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36" name="Freeform 43">
              <a:extLst>
                <a:ext uri="{FF2B5EF4-FFF2-40B4-BE49-F238E27FC236}">
                  <a16:creationId xmlns:a16="http://schemas.microsoft.com/office/drawing/2014/main" id="{60AFCEEC-E747-AF48-9591-58C67AF87A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37" name="Freeform 44">
              <a:extLst>
                <a:ext uri="{FF2B5EF4-FFF2-40B4-BE49-F238E27FC236}">
                  <a16:creationId xmlns:a16="http://schemas.microsoft.com/office/drawing/2014/main" id="{2290DF32-70FD-0E48-9258-0BD83EE622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38" name="Freeform 45">
              <a:extLst>
                <a:ext uri="{FF2B5EF4-FFF2-40B4-BE49-F238E27FC236}">
                  <a16:creationId xmlns:a16="http://schemas.microsoft.com/office/drawing/2014/main" id="{61BFE2D7-8646-5943-87D5-C6A9CDF68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39" name="Freeform 46">
              <a:extLst>
                <a:ext uri="{FF2B5EF4-FFF2-40B4-BE49-F238E27FC236}">
                  <a16:creationId xmlns:a16="http://schemas.microsoft.com/office/drawing/2014/main" id="{6FFCD48C-239D-ED44-879B-9E5DD00DE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40" name="Freeform 47">
              <a:extLst>
                <a:ext uri="{FF2B5EF4-FFF2-40B4-BE49-F238E27FC236}">
                  <a16:creationId xmlns:a16="http://schemas.microsoft.com/office/drawing/2014/main" id="{55CCAE64-959A-BC4A-A123-FC9283192D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6931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545F0-13CD-2476-2704-0475542A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34"/>
            <a:ext cx="5066001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/>
              <a:t>…para </a:t>
            </a:r>
            <a:r>
              <a:rPr lang="en-US" sz="6000" dirty="0" err="1"/>
              <a:t>practicar</a:t>
            </a:r>
            <a:r>
              <a:rPr lang="en-US" sz="6000" dirty="0"/>
              <a:t> y saber </a:t>
            </a:r>
            <a:r>
              <a:rPr lang="en-US" sz="6000" dirty="0" err="1"/>
              <a:t>más</a:t>
            </a:r>
            <a:r>
              <a:rPr lang="en-US" sz="6000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BC7A3-2DF2-B8DF-93EC-586FBAB83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4283239"/>
            <a:ext cx="5066001" cy="14751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dirty="0">
                <a:hlinkClick r:id="rId2"/>
              </a:rPr>
              <a:t>https://</a:t>
            </a:r>
            <a:r>
              <a:rPr lang="en-US" sz="2000">
                <a:hlinkClick r:id="rId2"/>
              </a:rPr>
              <a:t>egyankosh.ac.in</a:t>
            </a:r>
            <a:r>
              <a:rPr lang="en-US" sz="2000" dirty="0">
                <a:hlinkClick r:id="rId2"/>
              </a:rPr>
              <a:t>/bitstream/123456789/39224/1/Unit-1.pdf</a:t>
            </a:r>
            <a:r>
              <a:rPr lang="en-US" sz="2000" dirty="0"/>
              <a:t> 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1C79BB7-CCAB-2243-9830-5569626C4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8BCC8C1-CBFD-084B-8A24-1F294001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3145" y="0"/>
            <a:ext cx="5988856" cy="6858001"/>
            <a:chOff x="6203145" y="0"/>
            <a:chExt cx="5988856" cy="6858001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C50F0AD-B655-B74C-877D-338A814CC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7228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 80">
              <a:extLst>
                <a:ext uri="{FF2B5EF4-FFF2-40B4-BE49-F238E27FC236}">
                  <a16:creationId xmlns:a16="http://schemas.microsoft.com/office/drawing/2014/main" id="{F052C6CD-49CB-834C-A4AB-1908AF3BCA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0093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9DA6467-F163-D244-ABC9-2ABDF6EED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0093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4044811-EE26-DF4B-A4C1-601C66AC7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0093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83">
              <a:extLst>
                <a:ext uri="{FF2B5EF4-FFF2-40B4-BE49-F238E27FC236}">
                  <a16:creationId xmlns:a16="http://schemas.microsoft.com/office/drawing/2014/main" id="{9A414F66-B2F3-6547-8123-76A5435FE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0092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D14A817-D631-584B-A3D3-6728E3CE7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2959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85">
              <a:extLst>
                <a:ext uri="{FF2B5EF4-FFF2-40B4-BE49-F238E27FC236}">
                  <a16:creationId xmlns:a16="http://schemas.microsoft.com/office/drawing/2014/main" id="{F2ABF49A-32B1-D34D-AF7C-FFFE75D81D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8" y="4923855"/>
              <a:ext cx="536172" cy="1124839"/>
            </a:xfrm>
            <a:custGeom>
              <a:avLst/>
              <a:gdLst>
                <a:gd name="connsiteX0" fmla="*/ 536172 w 536172"/>
                <a:gd name="connsiteY0" fmla="*/ 0 h 1124839"/>
                <a:gd name="connsiteX1" fmla="*/ 536172 w 536172"/>
                <a:gd name="connsiteY1" fmla="*/ 1124839 h 1124839"/>
                <a:gd name="connsiteX2" fmla="*/ 451423 w 536172"/>
                <a:gd name="connsiteY2" fmla="*/ 1116295 h 1124839"/>
                <a:gd name="connsiteX3" fmla="*/ 0 w 536172"/>
                <a:gd name="connsiteY3" fmla="*/ 562419 h 1124839"/>
                <a:gd name="connsiteX4" fmla="*/ 451423 w 536172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2" h="1124839">
                  <a:moveTo>
                    <a:pt x="536172" y="0"/>
                  </a:moveTo>
                  <a:lnTo>
                    <a:pt x="536172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87">
              <a:extLst>
                <a:ext uri="{FF2B5EF4-FFF2-40B4-BE49-F238E27FC236}">
                  <a16:creationId xmlns:a16="http://schemas.microsoft.com/office/drawing/2014/main" id="{33CF6336-BA17-494F-8B59-2B5EBA8D1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3147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88">
              <a:extLst>
                <a:ext uri="{FF2B5EF4-FFF2-40B4-BE49-F238E27FC236}">
                  <a16:creationId xmlns:a16="http://schemas.microsoft.com/office/drawing/2014/main" id="{F38988E7-A8AD-4F47-9367-2C192D3F0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7976" y="0"/>
              <a:ext cx="1130726" cy="565362"/>
            </a:xfrm>
            <a:custGeom>
              <a:avLst/>
              <a:gdLst>
                <a:gd name="connsiteX0" fmla="*/ 0 w 1130726"/>
                <a:gd name="connsiteY0" fmla="*/ 0 h 565362"/>
                <a:gd name="connsiteX1" fmla="*/ 25421 w 1130726"/>
                <a:gd name="connsiteY1" fmla="*/ 0 h 565362"/>
                <a:gd name="connsiteX2" fmla="*/ 36370 w 1130726"/>
                <a:gd name="connsiteY2" fmla="*/ 108609 h 565362"/>
                <a:gd name="connsiteX3" fmla="*/ 565364 w 1130726"/>
                <a:gd name="connsiteY3" fmla="*/ 539750 h 565362"/>
                <a:gd name="connsiteX4" fmla="*/ 1094357 w 1130726"/>
                <a:gd name="connsiteY4" fmla="*/ 108609 h 565362"/>
                <a:gd name="connsiteX5" fmla="*/ 1105306 w 1130726"/>
                <a:gd name="connsiteY5" fmla="*/ 0 h 565362"/>
                <a:gd name="connsiteX6" fmla="*/ 1130726 w 1130726"/>
                <a:gd name="connsiteY6" fmla="*/ 0 h 565362"/>
                <a:gd name="connsiteX7" fmla="*/ 565364 w 1130726"/>
                <a:gd name="connsiteY7" fmla="*/ 565362 h 565362"/>
                <a:gd name="connsiteX8" fmla="*/ 0 w 1130726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6" h="565362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6719" y="354660"/>
                    <a:pt x="304426" y="539750"/>
                    <a:pt x="565364" y="539750"/>
                  </a:cubicBezTo>
                  <a:cubicBezTo>
                    <a:pt x="826301" y="539750"/>
                    <a:pt x="1044008" y="354660"/>
                    <a:pt x="1094357" y="108609"/>
                  </a:cubicBezTo>
                  <a:lnTo>
                    <a:pt x="1105306" y="0"/>
                  </a:lnTo>
                  <a:lnTo>
                    <a:pt x="1130726" y="0"/>
                  </a:lnTo>
                  <a:cubicBezTo>
                    <a:pt x="1130726" y="312241"/>
                    <a:pt x="877604" y="565362"/>
                    <a:pt x="565364" y="565362"/>
                  </a:cubicBezTo>
                  <a:cubicBezTo>
                    <a:pt x="253123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89">
              <a:extLst>
                <a:ext uri="{FF2B5EF4-FFF2-40B4-BE49-F238E27FC236}">
                  <a16:creationId xmlns:a16="http://schemas.microsoft.com/office/drawing/2014/main" id="{86BC04BC-A9CA-0D47-99BB-C2B4EEC14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3707" y="0"/>
              <a:ext cx="1130726" cy="565362"/>
            </a:xfrm>
            <a:custGeom>
              <a:avLst/>
              <a:gdLst>
                <a:gd name="connsiteX0" fmla="*/ 0 w 1130726"/>
                <a:gd name="connsiteY0" fmla="*/ 0 h 565362"/>
                <a:gd name="connsiteX1" fmla="*/ 25421 w 1130726"/>
                <a:gd name="connsiteY1" fmla="*/ 0 h 565362"/>
                <a:gd name="connsiteX2" fmla="*/ 36369 w 1130726"/>
                <a:gd name="connsiteY2" fmla="*/ 108609 h 565362"/>
                <a:gd name="connsiteX3" fmla="*/ 565363 w 1130726"/>
                <a:gd name="connsiteY3" fmla="*/ 539750 h 565362"/>
                <a:gd name="connsiteX4" fmla="*/ 1094357 w 1130726"/>
                <a:gd name="connsiteY4" fmla="*/ 108609 h 565362"/>
                <a:gd name="connsiteX5" fmla="*/ 1105306 w 1130726"/>
                <a:gd name="connsiteY5" fmla="*/ 0 h 565362"/>
                <a:gd name="connsiteX6" fmla="*/ 1130726 w 1130726"/>
                <a:gd name="connsiteY6" fmla="*/ 0 h 565362"/>
                <a:gd name="connsiteX7" fmla="*/ 565363 w 1130726"/>
                <a:gd name="connsiteY7" fmla="*/ 565362 h 565362"/>
                <a:gd name="connsiteX8" fmla="*/ 0 w 1130726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6" h="565362">
                  <a:moveTo>
                    <a:pt x="0" y="0"/>
                  </a:moveTo>
                  <a:lnTo>
                    <a:pt x="25421" y="0"/>
                  </a:lnTo>
                  <a:lnTo>
                    <a:pt x="36369" y="108609"/>
                  </a:lnTo>
                  <a:cubicBezTo>
                    <a:pt x="86719" y="354660"/>
                    <a:pt x="304426" y="539750"/>
                    <a:pt x="565363" y="539750"/>
                  </a:cubicBezTo>
                  <a:cubicBezTo>
                    <a:pt x="826300" y="539750"/>
                    <a:pt x="1044007" y="354660"/>
                    <a:pt x="1094357" y="108609"/>
                  </a:cubicBezTo>
                  <a:lnTo>
                    <a:pt x="1105306" y="0"/>
                  </a:lnTo>
                  <a:lnTo>
                    <a:pt x="1130726" y="0"/>
                  </a:lnTo>
                  <a:cubicBezTo>
                    <a:pt x="1130726" y="312241"/>
                    <a:pt x="877604" y="565362"/>
                    <a:pt x="565363" y="565362"/>
                  </a:cubicBezTo>
                  <a:cubicBezTo>
                    <a:pt x="253122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92">
              <a:extLst>
                <a:ext uri="{FF2B5EF4-FFF2-40B4-BE49-F238E27FC236}">
                  <a16:creationId xmlns:a16="http://schemas.microsoft.com/office/drawing/2014/main" id="{7EF2712B-3B0E-6544-A8E6-6D04906DB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6" y="0"/>
              <a:ext cx="535425" cy="562344"/>
            </a:xfrm>
            <a:custGeom>
              <a:avLst/>
              <a:gdLst>
                <a:gd name="connsiteX0" fmla="*/ 0 w 535425"/>
                <a:gd name="connsiteY0" fmla="*/ 0 h 562344"/>
                <a:gd name="connsiteX1" fmla="*/ 25421 w 535425"/>
                <a:gd name="connsiteY1" fmla="*/ 0 h 562344"/>
                <a:gd name="connsiteX2" fmla="*/ 36369 w 535425"/>
                <a:gd name="connsiteY2" fmla="*/ 108609 h 562344"/>
                <a:gd name="connsiteX3" fmla="*/ 469780 w 535425"/>
                <a:gd name="connsiteY3" fmla="*/ 531316 h 562344"/>
                <a:gd name="connsiteX4" fmla="*/ 535425 w 535425"/>
                <a:gd name="connsiteY4" fmla="*/ 537109 h 562344"/>
                <a:gd name="connsiteX5" fmla="*/ 535425 w 535425"/>
                <a:gd name="connsiteY5" fmla="*/ 562344 h 562344"/>
                <a:gd name="connsiteX6" fmla="*/ 451423 w 535425"/>
                <a:gd name="connsiteY6" fmla="*/ 553876 h 562344"/>
                <a:gd name="connsiteX7" fmla="*/ 0 w 535425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5" h="562344">
                  <a:moveTo>
                    <a:pt x="0" y="0"/>
                  </a:moveTo>
                  <a:lnTo>
                    <a:pt x="25421" y="0"/>
                  </a:lnTo>
                  <a:lnTo>
                    <a:pt x="36369" y="108609"/>
                  </a:lnTo>
                  <a:cubicBezTo>
                    <a:pt x="80425" y="323904"/>
                    <a:pt x="252614" y="492525"/>
                    <a:pt x="469780" y="531316"/>
                  </a:cubicBezTo>
                  <a:lnTo>
                    <a:pt x="535425" y="537109"/>
                  </a:lnTo>
                  <a:lnTo>
                    <a:pt x="535425" y="562344"/>
                  </a:lnTo>
                  <a:lnTo>
                    <a:pt x="451423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93">
              <a:extLst>
                <a:ext uri="{FF2B5EF4-FFF2-40B4-BE49-F238E27FC236}">
                  <a16:creationId xmlns:a16="http://schemas.microsoft.com/office/drawing/2014/main" id="{3498B898-0656-8647-B500-00F9AAB34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807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94">
              <a:extLst>
                <a:ext uri="{FF2B5EF4-FFF2-40B4-BE49-F238E27FC236}">
                  <a16:creationId xmlns:a16="http://schemas.microsoft.com/office/drawing/2014/main" id="{D48076FE-1264-FB4C-8D7B-D2410747A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3707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96">
              <a:extLst>
                <a:ext uri="{FF2B5EF4-FFF2-40B4-BE49-F238E27FC236}">
                  <a16:creationId xmlns:a16="http://schemas.microsoft.com/office/drawing/2014/main" id="{F4EA3DC7-B2FA-884E-819F-669C4C730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6" y="809383"/>
              <a:ext cx="535425" cy="1124688"/>
            </a:xfrm>
            <a:custGeom>
              <a:avLst/>
              <a:gdLst>
                <a:gd name="connsiteX0" fmla="*/ 535425 w 535425"/>
                <a:gd name="connsiteY0" fmla="*/ 0 h 1124688"/>
                <a:gd name="connsiteX1" fmla="*/ 535425 w 535425"/>
                <a:gd name="connsiteY1" fmla="*/ 25186 h 1124688"/>
                <a:gd name="connsiteX2" fmla="*/ 456541 w 535425"/>
                <a:gd name="connsiteY2" fmla="*/ 33138 h 1124688"/>
                <a:gd name="connsiteX3" fmla="*/ 25399 w 535425"/>
                <a:gd name="connsiteY3" fmla="*/ 562131 h 1124688"/>
                <a:gd name="connsiteX4" fmla="*/ 456541 w 535425"/>
                <a:gd name="connsiteY4" fmla="*/ 1091124 h 1124688"/>
                <a:gd name="connsiteX5" fmla="*/ 535425 w 535425"/>
                <a:gd name="connsiteY5" fmla="*/ 1099076 h 1124688"/>
                <a:gd name="connsiteX6" fmla="*/ 535425 w 535425"/>
                <a:gd name="connsiteY6" fmla="*/ 1124688 h 1124688"/>
                <a:gd name="connsiteX7" fmla="*/ 451423 w 535425"/>
                <a:gd name="connsiteY7" fmla="*/ 1116220 h 1124688"/>
                <a:gd name="connsiteX8" fmla="*/ 0 w 535425"/>
                <a:gd name="connsiteY8" fmla="*/ 562344 h 1124688"/>
                <a:gd name="connsiteX9" fmla="*/ 451423 w 535425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5" h="1124688">
                  <a:moveTo>
                    <a:pt x="535425" y="0"/>
                  </a:moveTo>
                  <a:lnTo>
                    <a:pt x="535425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5" y="1099076"/>
                  </a:lnTo>
                  <a:lnTo>
                    <a:pt x="535425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Freeform 97">
              <a:extLst>
                <a:ext uri="{FF2B5EF4-FFF2-40B4-BE49-F238E27FC236}">
                  <a16:creationId xmlns:a16="http://schemas.microsoft.com/office/drawing/2014/main" id="{D2A8682C-1627-1C41-BE94-88213340F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7976" y="2178092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reeform 98">
              <a:extLst>
                <a:ext uri="{FF2B5EF4-FFF2-40B4-BE49-F238E27FC236}">
                  <a16:creationId xmlns:a16="http://schemas.microsoft.com/office/drawing/2014/main" id="{3263659E-BB01-914A-B5D5-D9444F7975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6" y="2181110"/>
              <a:ext cx="535425" cy="1124688"/>
            </a:xfrm>
            <a:custGeom>
              <a:avLst/>
              <a:gdLst>
                <a:gd name="connsiteX0" fmla="*/ 535425 w 535425"/>
                <a:gd name="connsiteY0" fmla="*/ 0 h 1124688"/>
                <a:gd name="connsiteX1" fmla="*/ 535425 w 535425"/>
                <a:gd name="connsiteY1" fmla="*/ 25186 h 1124688"/>
                <a:gd name="connsiteX2" fmla="*/ 456541 w 535425"/>
                <a:gd name="connsiteY2" fmla="*/ 33139 h 1124688"/>
                <a:gd name="connsiteX3" fmla="*/ 25399 w 535425"/>
                <a:gd name="connsiteY3" fmla="*/ 562131 h 1124688"/>
                <a:gd name="connsiteX4" fmla="*/ 456541 w 535425"/>
                <a:gd name="connsiteY4" fmla="*/ 1091124 h 1124688"/>
                <a:gd name="connsiteX5" fmla="*/ 535425 w 535425"/>
                <a:gd name="connsiteY5" fmla="*/ 1099076 h 1124688"/>
                <a:gd name="connsiteX6" fmla="*/ 535425 w 535425"/>
                <a:gd name="connsiteY6" fmla="*/ 1124688 h 1124688"/>
                <a:gd name="connsiteX7" fmla="*/ 451423 w 535425"/>
                <a:gd name="connsiteY7" fmla="*/ 1116220 h 1124688"/>
                <a:gd name="connsiteX8" fmla="*/ 0 w 535425"/>
                <a:gd name="connsiteY8" fmla="*/ 562344 h 1124688"/>
                <a:gd name="connsiteX9" fmla="*/ 451423 w 535425"/>
                <a:gd name="connsiteY9" fmla="*/ 8469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5" h="1124688">
                  <a:moveTo>
                    <a:pt x="535425" y="0"/>
                  </a:moveTo>
                  <a:lnTo>
                    <a:pt x="535425" y="25186"/>
                  </a:lnTo>
                  <a:lnTo>
                    <a:pt x="456541" y="33139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5" y="1099076"/>
                  </a:lnTo>
                  <a:lnTo>
                    <a:pt x="535425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 99">
              <a:extLst>
                <a:ext uri="{FF2B5EF4-FFF2-40B4-BE49-F238E27FC236}">
                  <a16:creationId xmlns:a16="http://schemas.microsoft.com/office/drawing/2014/main" id="{31E3F8FE-B817-F543-A7EE-753A85F62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3145" y="3549819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100">
              <a:extLst>
                <a:ext uri="{FF2B5EF4-FFF2-40B4-BE49-F238E27FC236}">
                  <a16:creationId xmlns:a16="http://schemas.microsoft.com/office/drawing/2014/main" id="{E3DA8522-53D8-4D42-974E-671F98496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7976" y="3549819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101">
              <a:extLst>
                <a:ext uri="{FF2B5EF4-FFF2-40B4-BE49-F238E27FC236}">
                  <a16:creationId xmlns:a16="http://schemas.microsoft.com/office/drawing/2014/main" id="{5E08E11F-B943-0644-8568-20844169D1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3707" y="3549819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102">
              <a:extLst>
                <a:ext uri="{FF2B5EF4-FFF2-40B4-BE49-F238E27FC236}">
                  <a16:creationId xmlns:a16="http://schemas.microsoft.com/office/drawing/2014/main" id="{CE5C718B-42EC-7348-AE52-CF97A8E08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6" y="3552837"/>
              <a:ext cx="535425" cy="1124688"/>
            </a:xfrm>
            <a:custGeom>
              <a:avLst/>
              <a:gdLst>
                <a:gd name="connsiteX0" fmla="*/ 535425 w 535425"/>
                <a:gd name="connsiteY0" fmla="*/ 0 h 1124688"/>
                <a:gd name="connsiteX1" fmla="*/ 535425 w 535425"/>
                <a:gd name="connsiteY1" fmla="*/ 25186 h 1124688"/>
                <a:gd name="connsiteX2" fmla="*/ 456541 w 535425"/>
                <a:gd name="connsiteY2" fmla="*/ 33138 h 1124688"/>
                <a:gd name="connsiteX3" fmla="*/ 25399 w 535425"/>
                <a:gd name="connsiteY3" fmla="*/ 562131 h 1124688"/>
                <a:gd name="connsiteX4" fmla="*/ 456541 w 535425"/>
                <a:gd name="connsiteY4" fmla="*/ 1091124 h 1124688"/>
                <a:gd name="connsiteX5" fmla="*/ 535425 w 535425"/>
                <a:gd name="connsiteY5" fmla="*/ 1099076 h 1124688"/>
                <a:gd name="connsiteX6" fmla="*/ 535425 w 535425"/>
                <a:gd name="connsiteY6" fmla="*/ 1124688 h 1124688"/>
                <a:gd name="connsiteX7" fmla="*/ 451423 w 535425"/>
                <a:gd name="connsiteY7" fmla="*/ 1116220 h 1124688"/>
                <a:gd name="connsiteX8" fmla="*/ 0 w 535425"/>
                <a:gd name="connsiteY8" fmla="*/ 562344 h 1124688"/>
                <a:gd name="connsiteX9" fmla="*/ 451423 w 535425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5" h="1124688">
                  <a:moveTo>
                    <a:pt x="535425" y="0"/>
                  </a:moveTo>
                  <a:lnTo>
                    <a:pt x="535425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5" y="1099076"/>
                  </a:lnTo>
                  <a:lnTo>
                    <a:pt x="535425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103">
              <a:extLst>
                <a:ext uri="{FF2B5EF4-FFF2-40B4-BE49-F238E27FC236}">
                  <a16:creationId xmlns:a16="http://schemas.microsoft.com/office/drawing/2014/main" id="{58F2C823-D2D8-B347-8B83-949D3D897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807" y="4921546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104">
              <a:extLst>
                <a:ext uri="{FF2B5EF4-FFF2-40B4-BE49-F238E27FC236}">
                  <a16:creationId xmlns:a16="http://schemas.microsoft.com/office/drawing/2014/main" id="{2C72C86A-B939-9F44-AC50-93676E423C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8040" y="6293274"/>
              <a:ext cx="1130598" cy="564727"/>
            </a:xfrm>
            <a:custGeom>
              <a:avLst/>
              <a:gdLst>
                <a:gd name="connsiteX0" fmla="*/ 565300 w 1130598"/>
                <a:gd name="connsiteY0" fmla="*/ 0 h 564727"/>
                <a:gd name="connsiteX1" fmla="*/ 1119176 w 1130598"/>
                <a:gd name="connsiteY1" fmla="*/ 451422 h 564727"/>
                <a:gd name="connsiteX2" fmla="*/ 1130598 w 1130598"/>
                <a:gd name="connsiteY2" fmla="*/ 564727 h 564727"/>
                <a:gd name="connsiteX3" fmla="*/ 1105221 w 1130598"/>
                <a:gd name="connsiteY3" fmla="*/ 564727 h 564727"/>
                <a:gd name="connsiteX4" fmla="*/ 1094293 w 1130598"/>
                <a:gd name="connsiteY4" fmla="*/ 456328 h 564727"/>
                <a:gd name="connsiteX5" fmla="*/ 565300 w 1130598"/>
                <a:gd name="connsiteY5" fmla="*/ 25186 h 564727"/>
                <a:gd name="connsiteX6" fmla="*/ 36306 w 1130598"/>
                <a:gd name="connsiteY6" fmla="*/ 456328 h 564727"/>
                <a:gd name="connsiteX7" fmla="*/ 25378 w 1130598"/>
                <a:gd name="connsiteY7" fmla="*/ 564727 h 564727"/>
                <a:gd name="connsiteX8" fmla="*/ 0 w 1130598"/>
                <a:gd name="connsiteY8" fmla="*/ 564727 h 564727"/>
                <a:gd name="connsiteX9" fmla="*/ 11423 w 1130598"/>
                <a:gd name="connsiteY9" fmla="*/ 451422 h 564727"/>
                <a:gd name="connsiteX10" fmla="*/ 565300 w 1130598"/>
                <a:gd name="connsiteY10" fmla="*/ 0 h 564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0598" h="564727">
                  <a:moveTo>
                    <a:pt x="565300" y="0"/>
                  </a:moveTo>
                  <a:cubicBezTo>
                    <a:pt x="838510" y="0"/>
                    <a:pt x="1066458" y="193796"/>
                    <a:pt x="1119176" y="451422"/>
                  </a:cubicBezTo>
                  <a:lnTo>
                    <a:pt x="1130598" y="564727"/>
                  </a:lnTo>
                  <a:lnTo>
                    <a:pt x="1105221" y="564727"/>
                  </a:lnTo>
                  <a:lnTo>
                    <a:pt x="1094293" y="456328"/>
                  </a:lnTo>
                  <a:cubicBezTo>
                    <a:pt x="1043944" y="210276"/>
                    <a:pt x="826237" y="25186"/>
                    <a:pt x="565300" y="25186"/>
                  </a:cubicBezTo>
                  <a:cubicBezTo>
                    <a:pt x="304362" y="25186"/>
                    <a:pt x="86655" y="210276"/>
                    <a:pt x="36306" y="456328"/>
                  </a:cubicBezTo>
                  <a:lnTo>
                    <a:pt x="25378" y="564727"/>
                  </a:lnTo>
                  <a:lnTo>
                    <a:pt x="0" y="564727"/>
                  </a:lnTo>
                  <a:lnTo>
                    <a:pt x="11423" y="451422"/>
                  </a:lnTo>
                  <a:cubicBezTo>
                    <a:pt x="64141" y="193796"/>
                    <a:pt x="292089" y="0"/>
                    <a:pt x="565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105">
              <a:extLst>
                <a:ext uri="{FF2B5EF4-FFF2-40B4-BE49-F238E27FC236}">
                  <a16:creationId xmlns:a16="http://schemas.microsoft.com/office/drawing/2014/main" id="{A683E620-902F-8040-B8FB-3FCB1A77D7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3771" y="6293274"/>
              <a:ext cx="1130598" cy="564727"/>
            </a:xfrm>
            <a:custGeom>
              <a:avLst/>
              <a:gdLst>
                <a:gd name="connsiteX0" fmla="*/ 565299 w 1130598"/>
                <a:gd name="connsiteY0" fmla="*/ 0 h 564727"/>
                <a:gd name="connsiteX1" fmla="*/ 1119176 w 1130598"/>
                <a:gd name="connsiteY1" fmla="*/ 451422 h 564727"/>
                <a:gd name="connsiteX2" fmla="*/ 1130598 w 1130598"/>
                <a:gd name="connsiteY2" fmla="*/ 564727 h 564727"/>
                <a:gd name="connsiteX3" fmla="*/ 1105221 w 1130598"/>
                <a:gd name="connsiteY3" fmla="*/ 564727 h 564727"/>
                <a:gd name="connsiteX4" fmla="*/ 1094293 w 1130598"/>
                <a:gd name="connsiteY4" fmla="*/ 456328 h 564727"/>
                <a:gd name="connsiteX5" fmla="*/ 565299 w 1130598"/>
                <a:gd name="connsiteY5" fmla="*/ 25186 h 564727"/>
                <a:gd name="connsiteX6" fmla="*/ 36305 w 1130598"/>
                <a:gd name="connsiteY6" fmla="*/ 456328 h 564727"/>
                <a:gd name="connsiteX7" fmla="*/ 25378 w 1130598"/>
                <a:gd name="connsiteY7" fmla="*/ 564727 h 564727"/>
                <a:gd name="connsiteX8" fmla="*/ 0 w 1130598"/>
                <a:gd name="connsiteY8" fmla="*/ 564727 h 564727"/>
                <a:gd name="connsiteX9" fmla="*/ 11422 w 1130598"/>
                <a:gd name="connsiteY9" fmla="*/ 451422 h 564727"/>
                <a:gd name="connsiteX10" fmla="*/ 565299 w 1130598"/>
                <a:gd name="connsiteY10" fmla="*/ 0 h 564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0598" h="564727">
                  <a:moveTo>
                    <a:pt x="565299" y="0"/>
                  </a:moveTo>
                  <a:cubicBezTo>
                    <a:pt x="838510" y="0"/>
                    <a:pt x="1066458" y="193796"/>
                    <a:pt x="1119176" y="451422"/>
                  </a:cubicBezTo>
                  <a:lnTo>
                    <a:pt x="1130598" y="564727"/>
                  </a:lnTo>
                  <a:lnTo>
                    <a:pt x="1105221" y="564727"/>
                  </a:lnTo>
                  <a:lnTo>
                    <a:pt x="1094293" y="456328"/>
                  </a:lnTo>
                  <a:cubicBezTo>
                    <a:pt x="1043943" y="210276"/>
                    <a:pt x="826236" y="25186"/>
                    <a:pt x="565299" y="25186"/>
                  </a:cubicBezTo>
                  <a:cubicBezTo>
                    <a:pt x="304362" y="25186"/>
                    <a:pt x="86655" y="210276"/>
                    <a:pt x="36305" y="456328"/>
                  </a:cubicBezTo>
                  <a:lnTo>
                    <a:pt x="25378" y="564727"/>
                  </a:lnTo>
                  <a:lnTo>
                    <a:pt x="0" y="564727"/>
                  </a:lnTo>
                  <a:lnTo>
                    <a:pt x="11422" y="451422"/>
                  </a:lnTo>
                  <a:cubicBezTo>
                    <a:pt x="64140" y="193796"/>
                    <a:pt x="292088" y="0"/>
                    <a:pt x="5652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93961C03-7941-1847-93A1-DEE041CAE4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0" y="6295916"/>
              <a:ext cx="535361" cy="562084"/>
            </a:xfrm>
            <a:custGeom>
              <a:avLst/>
              <a:gdLst>
                <a:gd name="connsiteX0" fmla="*/ 535361 w 535361"/>
                <a:gd name="connsiteY0" fmla="*/ 0 h 562084"/>
                <a:gd name="connsiteX1" fmla="*/ 535361 w 535361"/>
                <a:gd name="connsiteY1" fmla="*/ 25186 h 562084"/>
                <a:gd name="connsiteX2" fmla="*/ 469716 w 535361"/>
                <a:gd name="connsiteY2" fmla="*/ 30978 h 562084"/>
                <a:gd name="connsiteX3" fmla="*/ 36305 w 535361"/>
                <a:gd name="connsiteY3" fmla="*/ 453686 h 562084"/>
                <a:gd name="connsiteX4" fmla="*/ 25378 w 535361"/>
                <a:gd name="connsiteY4" fmla="*/ 562084 h 562084"/>
                <a:gd name="connsiteX5" fmla="*/ 0 w 535361"/>
                <a:gd name="connsiteY5" fmla="*/ 562084 h 562084"/>
                <a:gd name="connsiteX6" fmla="*/ 11422 w 535361"/>
                <a:gd name="connsiteY6" fmla="*/ 448780 h 562084"/>
                <a:gd name="connsiteX7" fmla="*/ 465220 w 535361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61" h="562084">
                  <a:moveTo>
                    <a:pt x="535361" y="0"/>
                  </a:moveTo>
                  <a:lnTo>
                    <a:pt x="535361" y="25186"/>
                  </a:lnTo>
                  <a:lnTo>
                    <a:pt x="469716" y="30978"/>
                  </a:lnTo>
                  <a:cubicBezTo>
                    <a:pt x="252550" y="69769"/>
                    <a:pt x="80361" y="238391"/>
                    <a:pt x="36305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2" y="448780"/>
                  </a:lnTo>
                  <a:cubicBezTo>
                    <a:pt x="57550" y="223357"/>
                    <a:pt x="237839" y="46805"/>
                    <a:pt x="465220" y="61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763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9" name="Rectangle 616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71" name="Group 6170">
            <a:extLst>
              <a:ext uri="{FF2B5EF4-FFF2-40B4-BE49-F238E27FC236}">
                <a16:creationId xmlns:a16="http://schemas.microsoft.com/office/drawing/2014/main" id="{8E67A6F5-F47F-BD4C-9336-30E0A60EB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29613" y="0"/>
            <a:ext cx="1901686" cy="4677439"/>
            <a:chOff x="10290315" y="0"/>
            <a:chExt cx="1901686" cy="4677439"/>
          </a:xfrm>
        </p:grpSpPr>
        <p:sp>
          <p:nvSpPr>
            <p:cNvPr id="6172" name="Freeform 19">
              <a:extLst>
                <a:ext uri="{FF2B5EF4-FFF2-40B4-BE49-F238E27FC236}">
                  <a16:creationId xmlns:a16="http://schemas.microsoft.com/office/drawing/2014/main" id="{DA710708-67E0-194C-9A96-FD528D207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73" name="Freeform 21">
              <a:extLst>
                <a:ext uri="{FF2B5EF4-FFF2-40B4-BE49-F238E27FC236}">
                  <a16:creationId xmlns:a16="http://schemas.microsoft.com/office/drawing/2014/main" id="{2B6DA887-E216-1245-8F6F-B21233D94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74" name="Freeform 23">
              <a:extLst>
                <a:ext uri="{FF2B5EF4-FFF2-40B4-BE49-F238E27FC236}">
                  <a16:creationId xmlns:a16="http://schemas.microsoft.com/office/drawing/2014/main" id="{2AE2F0EF-0001-F243-85DC-2B8812AB4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75" name="Freeform 24">
              <a:extLst>
                <a:ext uri="{FF2B5EF4-FFF2-40B4-BE49-F238E27FC236}">
                  <a16:creationId xmlns:a16="http://schemas.microsoft.com/office/drawing/2014/main" id="{1491B174-1F11-D548-A885-7F98AF742C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D92BD9F-B98A-50EE-A59F-4F141717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6195187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Propuesta</a:t>
            </a:r>
            <a:r>
              <a:rPr lang="en-US" dirty="0"/>
              <a:t> de Proyecto: </a:t>
            </a:r>
            <a:r>
              <a:rPr lang="en-US" dirty="0" err="1"/>
              <a:t>Concepto</a:t>
            </a:r>
            <a:r>
              <a:rPr lang="en-US" dirty="0"/>
              <a:t> y </a:t>
            </a:r>
            <a:r>
              <a:rPr lang="en-US" dirty="0" err="1"/>
              <a:t>Significado</a:t>
            </a:r>
            <a:endParaRPr lang="en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02DB7-AB7A-412C-EFFA-7B477E9ED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856" y="2160015"/>
            <a:ext cx="7262037" cy="457039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“Una </a:t>
            </a:r>
            <a:r>
              <a:rPr lang="en-US" sz="1400" dirty="0" err="1"/>
              <a:t>propuesta</a:t>
            </a:r>
            <a:r>
              <a:rPr lang="en-US" sz="1400" dirty="0"/>
              <a:t> es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solicitud</a:t>
            </a:r>
            <a:r>
              <a:rPr lang="en-US" sz="1400" dirty="0"/>
              <a:t> de </a:t>
            </a:r>
            <a:r>
              <a:rPr lang="en-US" sz="1400" dirty="0" err="1"/>
              <a:t>acción</a:t>
            </a:r>
            <a:r>
              <a:rPr lang="en-US" sz="1400" dirty="0"/>
              <a:t>. Su </a:t>
            </a:r>
            <a:r>
              <a:rPr lang="en-US" sz="1400" dirty="0" err="1"/>
              <a:t>propósito</a:t>
            </a:r>
            <a:r>
              <a:rPr lang="en-US" sz="1400" dirty="0"/>
              <a:t> es </a:t>
            </a:r>
            <a:r>
              <a:rPr lang="en-US" sz="1400" dirty="0" err="1"/>
              <a:t>persuadir</a:t>
            </a:r>
            <a:r>
              <a:rPr lang="en-US" sz="1400" dirty="0"/>
              <a:t> a </a:t>
            </a:r>
            <a:r>
              <a:rPr lang="en-US" sz="1400" dirty="0" err="1"/>
              <a:t>los</a:t>
            </a:r>
            <a:r>
              <a:rPr lang="en-US" sz="1400" dirty="0"/>
              <a:t> </a:t>
            </a:r>
            <a:r>
              <a:rPr lang="en-US" sz="1400" dirty="0" err="1"/>
              <a:t>responsables</a:t>
            </a:r>
            <a:r>
              <a:rPr lang="en-US" sz="1400" dirty="0"/>
              <a:t> de la </a:t>
            </a:r>
            <a:r>
              <a:rPr lang="en-US" sz="1400" dirty="0" err="1"/>
              <a:t>toma</a:t>
            </a:r>
            <a:r>
              <a:rPr lang="en-US" sz="1400" dirty="0"/>
              <a:t> de </a:t>
            </a:r>
            <a:r>
              <a:rPr lang="en-US" sz="1400" dirty="0" err="1"/>
              <a:t>decisiones</a:t>
            </a:r>
            <a:r>
              <a:rPr lang="en-US" sz="1400" dirty="0"/>
              <a:t> de que </a:t>
            </a:r>
            <a:r>
              <a:rPr lang="en-US" sz="1400" dirty="0" err="1"/>
              <a:t>existe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necesidad</a:t>
            </a:r>
            <a:r>
              <a:rPr lang="en-US" sz="1400" dirty="0"/>
              <a:t> de </a:t>
            </a:r>
            <a:r>
              <a:rPr lang="en-US" sz="1400" dirty="0" err="1"/>
              <a:t>actuar</a:t>
            </a:r>
            <a:r>
              <a:rPr lang="en-US" sz="1400" dirty="0"/>
              <a:t> y que la </a:t>
            </a:r>
            <a:r>
              <a:rPr lang="en-US" sz="1400" dirty="0" err="1"/>
              <a:t>acción</a:t>
            </a:r>
            <a:r>
              <a:rPr lang="en-US" sz="1400" dirty="0"/>
              <a:t> </a:t>
            </a:r>
            <a:r>
              <a:rPr lang="en-US" sz="1400" dirty="0" err="1"/>
              <a:t>descrita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documento</a:t>
            </a:r>
            <a:r>
              <a:rPr lang="en-US" sz="1400" dirty="0"/>
              <a:t> es la </a:t>
            </a:r>
            <a:r>
              <a:rPr lang="en-US" sz="1400" dirty="0" err="1"/>
              <a:t>mejor</a:t>
            </a:r>
            <a:r>
              <a:rPr lang="en-US" sz="1400" dirty="0"/>
              <a:t> </a:t>
            </a:r>
            <a:r>
              <a:rPr lang="en-US" sz="1400" dirty="0" err="1"/>
              <a:t>respuesta</a:t>
            </a:r>
            <a:r>
              <a:rPr lang="en-US" sz="1400" dirty="0"/>
              <a:t> a </a:t>
            </a:r>
            <a:r>
              <a:rPr lang="en-US" sz="1400" dirty="0" err="1"/>
              <a:t>esa</a:t>
            </a:r>
            <a:r>
              <a:rPr lang="en-US" sz="1400" dirty="0"/>
              <a:t> </a:t>
            </a:r>
            <a:r>
              <a:rPr lang="en-US" sz="1400" dirty="0" err="1"/>
              <a:t>necesidad</a:t>
            </a:r>
            <a:r>
              <a:rPr lang="en-US" sz="1400" dirty="0"/>
              <a:t>”. </a:t>
            </a:r>
            <a:r>
              <a:rPr lang="en-US" sz="1400" dirty="0">
                <a:solidFill>
                  <a:schemeClr val="accent2"/>
                </a:solidFill>
              </a:rPr>
              <a:t>[</a:t>
            </a:r>
            <a:r>
              <a:rPr lang="en-US" sz="1400" i="1" dirty="0">
                <a:solidFill>
                  <a:schemeClr val="accent2"/>
                </a:solidFill>
              </a:rPr>
              <a:t>Connor et al. (1996)</a:t>
            </a:r>
            <a:r>
              <a:rPr lang="en-US" sz="1400" dirty="0">
                <a:solidFill>
                  <a:schemeClr val="accent2"/>
                </a:solidFill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“Una </a:t>
            </a:r>
            <a:r>
              <a:rPr lang="en-US" sz="1400" dirty="0" err="1"/>
              <a:t>propuesta</a:t>
            </a:r>
            <a:r>
              <a:rPr lang="en-US" sz="1400" dirty="0"/>
              <a:t> de </a:t>
            </a:r>
            <a:r>
              <a:rPr lang="en-US" sz="1400" dirty="0" err="1"/>
              <a:t>proyecto</a:t>
            </a:r>
            <a:r>
              <a:rPr lang="en-US" sz="1400" dirty="0"/>
              <a:t> es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descripción</a:t>
            </a:r>
            <a:r>
              <a:rPr lang="en-US" sz="1400" dirty="0"/>
              <a:t> </a:t>
            </a:r>
            <a:r>
              <a:rPr lang="en-US" sz="1400" dirty="0" err="1"/>
              <a:t>detallada</a:t>
            </a:r>
            <a:r>
              <a:rPr lang="en-US" sz="1400" dirty="0"/>
              <a:t> de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serie</a:t>
            </a:r>
            <a:r>
              <a:rPr lang="en-US" sz="1400" dirty="0"/>
              <a:t> de </a:t>
            </a:r>
            <a:r>
              <a:rPr lang="en-US" sz="1400" dirty="0" err="1"/>
              <a:t>actividades</a:t>
            </a:r>
            <a:r>
              <a:rPr lang="en-US" sz="1400" dirty="0"/>
              <a:t> </a:t>
            </a:r>
            <a:r>
              <a:rPr lang="en-US" sz="1400" dirty="0" err="1"/>
              <a:t>destinadas</a:t>
            </a:r>
            <a:r>
              <a:rPr lang="en-US" sz="1400" dirty="0"/>
              <a:t> a resolver un </a:t>
            </a:r>
            <a:r>
              <a:rPr lang="en-US" sz="1400" dirty="0" err="1"/>
              <a:t>problema</a:t>
            </a:r>
            <a:r>
              <a:rPr lang="en-US" sz="1400" dirty="0"/>
              <a:t> </a:t>
            </a:r>
            <a:r>
              <a:rPr lang="en-US" sz="1400" dirty="0" err="1"/>
              <a:t>específico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accent2"/>
                </a:solidFill>
              </a:rPr>
              <a:t>[</a:t>
            </a:r>
            <a:r>
              <a:rPr lang="en-US" sz="1400" i="1" dirty="0">
                <a:solidFill>
                  <a:schemeClr val="accent2"/>
                </a:solidFill>
              </a:rPr>
              <a:t>ITTO</a:t>
            </a:r>
            <a:r>
              <a:rPr lang="en-US" sz="1400" dirty="0">
                <a:solidFill>
                  <a:schemeClr val="accent2"/>
                </a:solidFill>
              </a:rPr>
              <a:t>]</a:t>
            </a:r>
            <a:r>
              <a:rPr lang="en-US" sz="1400" dirty="0"/>
              <a:t>. La </a:t>
            </a:r>
            <a:r>
              <a:rPr lang="en-US" sz="1400" dirty="0" err="1"/>
              <a:t>propuesta</a:t>
            </a:r>
            <a:r>
              <a:rPr lang="en-US" sz="1400" dirty="0"/>
              <a:t> </a:t>
            </a:r>
            <a:r>
              <a:rPr lang="en-US" sz="1400" dirty="0" err="1"/>
              <a:t>debe</a:t>
            </a:r>
            <a:r>
              <a:rPr lang="en-US" sz="1400" dirty="0"/>
              <a:t> </a:t>
            </a:r>
            <a:r>
              <a:rPr lang="en-US" sz="1400" dirty="0" err="1"/>
              <a:t>contener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explicación</a:t>
            </a:r>
            <a:r>
              <a:rPr lang="en-US" sz="1400" dirty="0"/>
              <a:t> </a:t>
            </a:r>
            <a:r>
              <a:rPr lang="en-US" sz="1400" dirty="0" err="1"/>
              <a:t>detallada</a:t>
            </a:r>
            <a:r>
              <a:rPr lang="en-US" sz="1400" dirty="0"/>
              <a:t> de:</a:t>
            </a:r>
          </a:p>
          <a:p>
            <a:pPr lvl="1">
              <a:lnSpc>
                <a:spcPct val="90000"/>
              </a:lnSpc>
            </a:pPr>
            <a:r>
              <a:rPr lang="en-US" sz="1400" i="1" dirty="0"/>
              <a:t>La </a:t>
            </a:r>
            <a:r>
              <a:rPr lang="en-US" sz="1400" i="1" dirty="0" err="1"/>
              <a:t>justificación</a:t>
            </a:r>
            <a:r>
              <a:rPr lang="en-US" sz="1400" i="1" dirty="0"/>
              <a:t> del </a:t>
            </a:r>
            <a:r>
              <a:rPr lang="en-US" sz="1400" i="1" dirty="0" err="1"/>
              <a:t>proyecto</a:t>
            </a:r>
            <a:endParaRPr lang="en-US" sz="1400" i="1" dirty="0"/>
          </a:p>
          <a:p>
            <a:pPr lvl="1">
              <a:lnSpc>
                <a:spcPct val="90000"/>
              </a:lnSpc>
            </a:pPr>
            <a:r>
              <a:rPr lang="en-US" sz="1400" i="1" dirty="0"/>
              <a:t>Las </a:t>
            </a:r>
            <a:r>
              <a:rPr lang="en-US" sz="1400" i="1" dirty="0" err="1"/>
              <a:t>actividades</a:t>
            </a:r>
            <a:r>
              <a:rPr lang="en-US" sz="1400" i="1" dirty="0"/>
              <a:t> y </a:t>
            </a:r>
            <a:r>
              <a:rPr lang="en-US" sz="1400" i="1" dirty="0" err="1"/>
              <a:t>el</a:t>
            </a:r>
            <a:r>
              <a:rPr lang="en-US" sz="1400" i="1" dirty="0"/>
              <a:t> </a:t>
            </a:r>
            <a:r>
              <a:rPr lang="en-US" sz="1400" i="1" dirty="0" err="1"/>
              <a:t>cronograma</a:t>
            </a:r>
            <a:r>
              <a:rPr lang="en-US" sz="1400" i="1" dirty="0"/>
              <a:t> de </a:t>
            </a:r>
            <a:r>
              <a:rPr lang="en-US" sz="1400" i="1" dirty="0" err="1"/>
              <a:t>implementación</a:t>
            </a:r>
            <a:endParaRPr lang="en-US" sz="1400" i="1" dirty="0"/>
          </a:p>
          <a:p>
            <a:pPr lvl="1">
              <a:lnSpc>
                <a:spcPct val="90000"/>
              </a:lnSpc>
            </a:pPr>
            <a:r>
              <a:rPr lang="en-US" sz="1400" i="1" dirty="0"/>
              <a:t>La </a:t>
            </a:r>
            <a:r>
              <a:rPr lang="en-US" sz="1400" i="1" dirty="0" err="1"/>
              <a:t>metodología</a:t>
            </a:r>
            <a:endParaRPr lang="en-US" sz="1400" i="1" dirty="0"/>
          </a:p>
          <a:p>
            <a:pPr lvl="1">
              <a:lnSpc>
                <a:spcPct val="90000"/>
              </a:lnSpc>
            </a:pPr>
            <a:r>
              <a:rPr lang="en-US" sz="1400" i="1" dirty="0"/>
              <a:t>Los </a:t>
            </a:r>
            <a:r>
              <a:rPr lang="en-US" sz="1400" i="1" dirty="0" err="1"/>
              <a:t>recursos</a:t>
            </a:r>
            <a:r>
              <a:rPr lang="en-US" sz="1400" i="1" dirty="0"/>
              <a:t> </a:t>
            </a:r>
            <a:r>
              <a:rPr lang="en-US" sz="1400" i="1" dirty="0" err="1"/>
              <a:t>humanos</a:t>
            </a:r>
            <a:r>
              <a:rPr lang="en-US" sz="1400" i="1" dirty="0"/>
              <a:t>, </a:t>
            </a:r>
            <a:r>
              <a:rPr lang="en-US" sz="1400" i="1" dirty="0" err="1"/>
              <a:t>materiales</a:t>
            </a:r>
            <a:r>
              <a:rPr lang="en-US" sz="1400" i="1" dirty="0"/>
              <a:t> y </a:t>
            </a:r>
            <a:r>
              <a:rPr lang="en-US" sz="1400" i="1" dirty="0" err="1"/>
              <a:t>financieros</a:t>
            </a:r>
            <a:r>
              <a:rPr lang="en-US" sz="1400" i="1" dirty="0"/>
              <a:t> </a:t>
            </a:r>
            <a:r>
              <a:rPr lang="en-US" sz="1400" i="1" dirty="0" err="1"/>
              <a:t>requeridos</a:t>
            </a:r>
            <a:endParaRPr lang="en-US" sz="1800" i="1" dirty="0"/>
          </a:p>
          <a:p>
            <a:pPr>
              <a:lnSpc>
                <a:spcPct val="90000"/>
              </a:lnSpc>
            </a:pPr>
            <a:r>
              <a:rPr lang="en-US" sz="1400" dirty="0"/>
              <a:t>Un </a:t>
            </a:r>
            <a:r>
              <a:rPr lang="en-US" sz="1400" dirty="0" err="1"/>
              <a:t>proyecto</a:t>
            </a:r>
            <a:r>
              <a:rPr lang="en-US" sz="1400" dirty="0"/>
              <a:t> es </a:t>
            </a:r>
            <a:r>
              <a:rPr lang="en-US" sz="1400" dirty="0" err="1"/>
              <a:t>una</a:t>
            </a:r>
            <a:r>
              <a:rPr lang="en-US" sz="1400" dirty="0"/>
              <a:t> </a:t>
            </a:r>
            <a:r>
              <a:rPr lang="en-US" sz="1400" b="1" dirty="0" err="1"/>
              <a:t>intervención</a:t>
            </a:r>
            <a:r>
              <a:rPr lang="en-US" sz="1400" b="1" dirty="0"/>
              <a:t> </a:t>
            </a:r>
            <a:r>
              <a:rPr lang="en-US" sz="1400" b="1" dirty="0" err="1"/>
              <a:t>limitada</a:t>
            </a:r>
            <a:r>
              <a:rPr lang="en-US" sz="1400" b="1" dirty="0"/>
              <a:t> </a:t>
            </a:r>
            <a:r>
              <a:rPr lang="en-US" sz="1400" b="1" dirty="0" err="1"/>
              <a:t>en</a:t>
            </a:r>
            <a:r>
              <a:rPr lang="en-US" sz="1400" b="1" dirty="0"/>
              <a:t> </a:t>
            </a:r>
            <a:r>
              <a:rPr lang="en-US" sz="1400" b="1" dirty="0" err="1"/>
              <a:t>el</a:t>
            </a:r>
            <a:r>
              <a:rPr lang="en-US" sz="1400" b="1" dirty="0"/>
              <a:t> </a:t>
            </a:r>
            <a:r>
              <a:rPr lang="en-US" sz="1400" b="1" dirty="0" err="1"/>
              <a:t>tiempo</a:t>
            </a:r>
            <a:r>
              <a:rPr lang="en-US" sz="1400" dirty="0"/>
              <a:t>, </a:t>
            </a:r>
            <a:r>
              <a:rPr lang="en-US" sz="1400" dirty="0" err="1"/>
              <a:t>compuesta</a:t>
            </a:r>
            <a:r>
              <a:rPr lang="en-US" sz="1400" dirty="0"/>
              <a:t> </a:t>
            </a:r>
            <a:r>
              <a:rPr lang="en-US" sz="1400" dirty="0" err="1"/>
              <a:t>por</a:t>
            </a:r>
            <a:r>
              <a:rPr lang="en-US" sz="1400" dirty="0"/>
              <a:t> un conjunto de </a:t>
            </a:r>
            <a:r>
              <a:rPr lang="en-US" sz="1400" dirty="0" err="1"/>
              <a:t>actividades</a:t>
            </a:r>
            <a:r>
              <a:rPr lang="en-US" sz="1400" dirty="0"/>
              <a:t> </a:t>
            </a:r>
            <a:r>
              <a:rPr lang="en-US" sz="1400" dirty="0" err="1"/>
              <a:t>planificadas</a:t>
            </a:r>
            <a:r>
              <a:rPr lang="en-US" sz="1400" dirty="0"/>
              <a:t> e </a:t>
            </a:r>
            <a:r>
              <a:rPr lang="en-US" sz="1400" dirty="0" err="1"/>
              <a:t>interrelacionadas</a:t>
            </a:r>
            <a:r>
              <a:rPr lang="en-US" sz="1400" dirty="0"/>
              <a:t>, </a:t>
            </a:r>
            <a:r>
              <a:rPr lang="en-US" sz="1400" dirty="0" err="1"/>
              <a:t>ejecutadas</a:t>
            </a:r>
            <a:r>
              <a:rPr lang="en-US" sz="1400" dirty="0"/>
              <a:t> para </a:t>
            </a:r>
            <a:r>
              <a:rPr lang="en-US" sz="1400" dirty="0" err="1"/>
              <a:t>lograr</a:t>
            </a:r>
            <a:r>
              <a:rPr lang="en-US" sz="1400" dirty="0"/>
              <a:t> un </a:t>
            </a:r>
            <a:r>
              <a:rPr lang="en-US" sz="1400" dirty="0" err="1"/>
              <a:t>cambio</a:t>
            </a:r>
            <a:r>
              <a:rPr lang="en-US" sz="1400" dirty="0"/>
              <a:t> </a:t>
            </a:r>
            <a:r>
              <a:rPr lang="en-US" sz="1400" dirty="0" err="1"/>
              <a:t>beneficioso</a:t>
            </a:r>
            <a:r>
              <a:rPr lang="en-US" sz="1400" dirty="0"/>
              <a:t>. Tiene </a:t>
            </a:r>
            <a:r>
              <a:rPr lang="en-US" sz="1400" dirty="0" err="1"/>
              <a:t>inicio</a:t>
            </a:r>
            <a:r>
              <a:rPr lang="en-US" sz="1400" dirty="0"/>
              <a:t> y fin, </a:t>
            </a:r>
            <a:r>
              <a:rPr lang="en-US" sz="1400" dirty="0" err="1"/>
              <a:t>involucra</a:t>
            </a:r>
            <a:r>
              <a:rPr lang="en-US" sz="1400" dirty="0"/>
              <a:t> a un </a:t>
            </a:r>
            <a:r>
              <a:rPr lang="en-US" sz="1400" dirty="0" err="1"/>
              <a:t>equipo</a:t>
            </a:r>
            <a:r>
              <a:rPr lang="en-US" sz="1400" dirty="0"/>
              <a:t> </a:t>
            </a:r>
            <a:r>
              <a:rPr lang="en-US" sz="1400" dirty="0" err="1"/>
              <a:t>multidisciplinario</a:t>
            </a:r>
            <a:r>
              <a:rPr lang="en-US" sz="1400" dirty="0"/>
              <a:t>, se </a:t>
            </a:r>
            <a:r>
              <a:rPr lang="en-US" sz="1400" dirty="0" err="1"/>
              <a:t>desarrolla</a:t>
            </a:r>
            <a:r>
              <a:rPr lang="en-US" sz="1400" dirty="0"/>
              <a:t> bajo </a:t>
            </a:r>
            <a:r>
              <a:rPr lang="en-US" sz="1400" dirty="0" err="1"/>
              <a:t>restricciones</a:t>
            </a:r>
            <a:r>
              <a:rPr lang="en-US" sz="1400" dirty="0"/>
              <a:t> de </a:t>
            </a:r>
            <a:r>
              <a:rPr lang="en-US" sz="1400" dirty="0" err="1"/>
              <a:t>costo</a:t>
            </a:r>
            <a:r>
              <a:rPr lang="en-US" sz="1400" dirty="0"/>
              <a:t>, </a:t>
            </a:r>
            <a:r>
              <a:rPr lang="en-US" sz="1400" dirty="0" err="1"/>
              <a:t>tiempo</a:t>
            </a:r>
            <a:r>
              <a:rPr lang="en-US" sz="1400" dirty="0"/>
              <a:t> y </a:t>
            </a:r>
            <a:r>
              <a:rPr lang="en-US" sz="1400" dirty="0" err="1"/>
              <a:t>calidad</a:t>
            </a:r>
            <a:r>
              <a:rPr lang="en-US" sz="1400" dirty="0"/>
              <a:t>, y </a:t>
            </a:r>
            <a:r>
              <a:rPr lang="en-US" sz="1400" dirty="0" err="1"/>
              <a:t>posee</a:t>
            </a:r>
            <a:r>
              <a:rPr lang="en-US" sz="1400" dirty="0"/>
              <a:t> un </a:t>
            </a:r>
            <a:r>
              <a:rPr lang="en-US" sz="1400" dirty="0" err="1"/>
              <a:t>alcance</a:t>
            </a:r>
            <a:r>
              <a:rPr lang="en-US" sz="1400" dirty="0"/>
              <a:t> </a:t>
            </a:r>
            <a:r>
              <a:rPr lang="en-US" sz="1400" dirty="0" err="1"/>
              <a:t>único</a:t>
            </a:r>
            <a:r>
              <a:rPr lang="en-US" sz="1400" dirty="0"/>
              <a:t> </a:t>
            </a:r>
            <a:r>
              <a:rPr lang="en-US" sz="1400" dirty="0" err="1"/>
              <a:t>sujeto</a:t>
            </a:r>
            <a:r>
              <a:rPr lang="en-US" sz="1400" dirty="0"/>
              <a:t> a </a:t>
            </a:r>
            <a:r>
              <a:rPr lang="en-US" sz="1400" dirty="0" err="1"/>
              <a:t>incertidumbre</a:t>
            </a:r>
            <a:r>
              <a:rPr lang="en-US" sz="1400" dirty="0"/>
              <a:t>.</a:t>
            </a:r>
          </a:p>
        </p:txBody>
      </p:sp>
      <p:cxnSp>
        <p:nvCxnSpPr>
          <p:cNvPr id="6177" name="Straight Connector 6176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64009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6 Vital Steps of the Project Scope Management Process">
            <a:extLst>
              <a:ext uri="{FF2B5EF4-FFF2-40B4-BE49-F238E27FC236}">
                <a16:creationId xmlns:a16="http://schemas.microsoft.com/office/drawing/2014/main" id="{DB4CDA10-47C0-9862-21F5-D5042F9AF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33" r="20036" b="1"/>
          <a:stretch>
            <a:fillRect/>
          </a:stretch>
        </p:blipFill>
        <p:spPr bwMode="auto">
          <a:xfrm>
            <a:off x="7534655" y="1"/>
            <a:ext cx="4657345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3865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4" name="Group 7303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7305" name="Oval 730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06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07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08" name="Oval 7307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09" name="Oval 7308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10" name="Oval 7309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11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12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13" name="Oval 7312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14" name="Oval 7313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15" name="Oval 7314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16" name="Oval 7315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17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18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19" name="Oval 7318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20" name="Oval 7319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21" name="Oval 7320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22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23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24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25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26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27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28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7330" name="Straight Connector 7329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332" name="Rectangle 7331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B943C1-7B80-CD59-DA0E-4CC01E70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34"/>
            <a:ext cx="4134537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/>
              <a:t>Pasos en la formulación de un proyecto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D8500-2410-5C85-C65E-E2654A30C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4283239"/>
            <a:ext cx="4134537" cy="14751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/>
              <a:t>Seis pasos básicos…</a:t>
            </a:r>
          </a:p>
        </p:txBody>
      </p:sp>
      <p:grpSp>
        <p:nvGrpSpPr>
          <p:cNvPr id="7334" name="Group 7333">
            <a:extLst>
              <a:ext uri="{FF2B5EF4-FFF2-40B4-BE49-F238E27FC236}">
                <a16:creationId xmlns:a16="http://schemas.microsoft.com/office/drawing/2014/main" id="{665B630C-8A26-BF40-AD00-AAAB3F8DF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7335" name="Freeform 85">
              <a:extLst>
                <a:ext uri="{FF2B5EF4-FFF2-40B4-BE49-F238E27FC236}">
                  <a16:creationId xmlns:a16="http://schemas.microsoft.com/office/drawing/2014/main" id="{47332152-49D9-5F42-9522-9424EDC70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36" name="Freeform 87">
              <a:extLst>
                <a:ext uri="{FF2B5EF4-FFF2-40B4-BE49-F238E27FC236}">
                  <a16:creationId xmlns:a16="http://schemas.microsoft.com/office/drawing/2014/main" id="{60C97C94-6942-C048-8F6F-55E05CBA1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37" name="Freeform 89">
              <a:extLst>
                <a:ext uri="{FF2B5EF4-FFF2-40B4-BE49-F238E27FC236}">
                  <a16:creationId xmlns:a16="http://schemas.microsoft.com/office/drawing/2014/main" id="{BD92967A-BFB2-E441-AC07-5997DDDD5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38" name="Freeform 100">
              <a:extLst>
                <a:ext uri="{FF2B5EF4-FFF2-40B4-BE49-F238E27FC236}">
                  <a16:creationId xmlns:a16="http://schemas.microsoft.com/office/drawing/2014/main" id="{DC25488D-5181-EC40-A6AC-862FC3787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7340" name="Straight Connector 7339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2" name="Picture 4" descr="Project Cycle Management Services – Development Consultancy Center">
            <a:extLst>
              <a:ext uri="{FF2B5EF4-FFF2-40B4-BE49-F238E27FC236}">
                <a16:creationId xmlns:a16="http://schemas.microsoft.com/office/drawing/2014/main" id="{5290F5AF-7465-67C3-7EA2-487D9764C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30418" y="681645"/>
            <a:ext cx="6141110" cy="5486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76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68DDB-D595-6B9B-15C8-2545DFFA7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60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O" sz="2800" dirty="0"/>
              <a:t>Paso 0: </a:t>
            </a:r>
            <a:r>
              <a:rPr lang="en-US" sz="2800" b="0" dirty="0" err="1"/>
              <a:t>Identificación</a:t>
            </a:r>
            <a:r>
              <a:rPr lang="en-US" sz="2800" b="0" dirty="0"/>
              <a:t> del </a:t>
            </a:r>
            <a:r>
              <a:rPr lang="en-US" sz="2800" b="0" dirty="0" err="1"/>
              <a:t>problema</a:t>
            </a:r>
            <a:r>
              <a:rPr lang="en-US" sz="2800" b="0" dirty="0"/>
              <a:t> y </a:t>
            </a:r>
            <a:r>
              <a:rPr lang="en-US" sz="2800" b="0" dirty="0" err="1"/>
              <a:t>definición</a:t>
            </a:r>
            <a:r>
              <a:rPr lang="en-US" sz="2800" b="0" dirty="0"/>
              <a:t> </a:t>
            </a:r>
            <a:r>
              <a:rPr lang="en-US" sz="2800" b="0" dirty="0" err="1"/>
              <a:t>inicial</a:t>
            </a:r>
            <a:endParaRPr lang="en-CO" sz="2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B5D37-3F07-DFE4-61A8-9DB72B81E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4133560" cy="36012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/>
              <a:t>Antes de </a:t>
            </a:r>
            <a:r>
              <a:rPr lang="en-US" sz="1500" err="1"/>
              <a:t>cualquier</a:t>
            </a:r>
            <a:r>
              <a:rPr lang="en-US" sz="1500"/>
              <a:t> </a:t>
            </a:r>
            <a:r>
              <a:rPr lang="en-US" sz="1500" err="1"/>
              <a:t>formulación</a:t>
            </a:r>
            <a:r>
              <a:rPr lang="en-US" sz="1500"/>
              <a:t>, es fundamental </a:t>
            </a:r>
            <a:r>
              <a:rPr lang="en-US" sz="1500" err="1"/>
              <a:t>reconocer</a:t>
            </a:r>
            <a:r>
              <a:rPr lang="en-US" sz="1500"/>
              <a:t> con </a:t>
            </a:r>
            <a:r>
              <a:rPr lang="en-US" sz="1500" err="1"/>
              <a:t>claridad</a:t>
            </a:r>
            <a:r>
              <a:rPr lang="en-US" sz="1500"/>
              <a:t> </a:t>
            </a:r>
            <a:r>
              <a:rPr lang="en-US" sz="1500" b="1" err="1"/>
              <a:t>qué</a:t>
            </a:r>
            <a:r>
              <a:rPr lang="en-US" sz="1500" b="1"/>
              <a:t> se </a:t>
            </a:r>
            <a:r>
              <a:rPr lang="en-US" sz="1500" b="1" err="1"/>
              <a:t>quiere</a:t>
            </a:r>
            <a:r>
              <a:rPr lang="en-US" sz="1500" b="1"/>
              <a:t> resolver</a:t>
            </a:r>
            <a:r>
              <a:rPr lang="en-US" sz="1500"/>
              <a:t>. Este primer paso </a:t>
            </a:r>
            <a:r>
              <a:rPr lang="en-US" sz="1500" err="1"/>
              <a:t>orienta</a:t>
            </a:r>
            <a:r>
              <a:rPr lang="en-US" sz="1500"/>
              <a:t> </a:t>
            </a:r>
            <a:r>
              <a:rPr lang="en-US" sz="1500" err="1"/>
              <a:t>los</a:t>
            </a:r>
            <a:r>
              <a:rPr lang="en-US" sz="1500"/>
              <a:t> </a:t>
            </a:r>
            <a:r>
              <a:rPr lang="en-US" sz="1500" err="1"/>
              <a:t>siguientes</a:t>
            </a:r>
            <a:r>
              <a:rPr lang="en-US" sz="1500"/>
              <a:t>. </a:t>
            </a:r>
            <a:r>
              <a:rPr lang="en-US" sz="1500" err="1"/>
              <a:t>Incluye</a:t>
            </a:r>
            <a:r>
              <a:rPr lang="en-US" sz="1500"/>
              <a:t>:</a:t>
            </a:r>
          </a:p>
          <a:p>
            <a:pPr>
              <a:lnSpc>
                <a:spcPct val="90000"/>
              </a:lnSpc>
            </a:pPr>
            <a:r>
              <a:rPr lang="en-US" sz="1500" b="1" err="1"/>
              <a:t>Problema</a:t>
            </a:r>
            <a:r>
              <a:rPr lang="en-US" sz="1500" b="1"/>
              <a:t> central</a:t>
            </a:r>
            <a:r>
              <a:rPr lang="en-US" sz="1500"/>
              <a:t>: </a:t>
            </a:r>
            <a:r>
              <a:rPr lang="en-US" sz="1500" err="1"/>
              <a:t>situación</a:t>
            </a:r>
            <a:r>
              <a:rPr lang="en-US" sz="1500"/>
              <a:t> o </a:t>
            </a:r>
            <a:r>
              <a:rPr lang="en-US" sz="1500" err="1"/>
              <a:t>necesidad</a:t>
            </a:r>
            <a:r>
              <a:rPr lang="en-US" sz="1500"/>
              <a:t> que </a:t>
            </a:r>
            <a:r>
              <a:rPr lang="en-US" sz="1500" err="1"/>
              <a:t>motiva</a:t>
            </a:r>
            <a:r>
              <a:rPr lang="en-US" sz="1500"/>
              <a:t> </a:t>
            </a:r>
            <a:r>
              <a:rPr lang="en-US" sz="1500" err="1"/>
              <a:t>el</a:t>
            </a:r>
            <a:r>
              <a:rPr lang="en-US" sz="1500"/>
              <a:t> </a:t>
            </a:r>
            <a:r>
              <a:rPr lang="en-US" sz="1500" err="1"/>
              <a:t>proyecto</a:t>
            </a:r>
            <a:r>
              <a:rPr lang="en-US" sz="1500"/>
              <a:t>.</a:t>
            </a:r>
          </a:p>
          <a:p>
            <a:pPr>
              <a:lnSpc>
                <a:spcPct val="90000"/>
              </a:lnSpc>
            </a:pPr>
            <a:r>
              <a:rPr lang="en-US" sz="1500" b="1" err="1"/>
              <a:t>Objetivo</a:t>
            </a:r>
            <a:r>
              <a:rPr lang="en-US" sz="1500" b="1"/>
              <a:t> general</a:t>
            </a:r>
            <a:r>
              <a:rPr lang="en-US" sz="1500"/>
              <a:t>: </a:t>
            </a:r>
            <a:r>
              <a:rPr lang="en-US" sz="1500" err="1"/>
              <a:t>propósito</a:t>
            </a:r>
            <a:r>
              <a:rPr lang="en-US" sz="1500"/>
              <a:t> </a:t>
            </a:r>
            <a:r>
              <a:rPr lang="en-US" sz="1500" err="1"/>
              <a:t>amplio</a:t>
            </a:r>
            <a:r>
              <a:rPr lang="en-US" sz="1500"/>
              <a:t> que </a:t>
            </a:r>
            <a:r>
              <a:rPr lang="en-US" sz="1500" err="1"/>
              <a:t>guía</a:t>
            </a:r>
            <a:r>
              <a:rPr lang="en-US" sz="1500"/>
              <a:t> la </a:t>
            </a:r>
            <a:r>
              <a:rPr lang="en-US" sz="1500" err="1"/>
              <a:t>intervención</a:t>
            </a:r>
            <a:r>
              <a:rPr lang="en-US" sz="1500"/>
              <a:t>.</a:t>
            </a:r>
          </a:p>
          <a:p>
            <a:pPr>
              <a:lnSpc>
                <a:spcPct val="90000"/>
              </a:lnSpc>
            </a:pPr>
            <a:r>
              <a:rPr lang="en-US" sz="1500" b="1"/>
              <a:t>Metas </a:t>
            </a:r>
            <a:r>
              <a:rPr lang="en-US" sz="1500" b="1" err="1"/>
              <a:t>iniciales</a:t>
            </a:r>
            <a:r>
              <a:rPr lang="en-US" sz="1500"/>
              <a:t>: </a:t>
            </a:r>
            <a:r>
              <a:rPr lang="en-US" sz="1500" err="1"/>
              <a:t>logros</a:t>
            </a:r>
            <a:r>
              <a:rPr lang="en-US" sz="1500"/>
              <a:t> </a:t>
            </a:r>
            <a:r>
              <a:rPr lang="en-US" sz="1500" err="1"/>
              <a:t>concretos</a:t>
            </a:r>
            <a:r>
              <a:rPr lang="en-US" sz="1500"/>
              <a:t> y </a:t>
            </a:r>
            <a:r>
              <a:rPr lang="en-US" sz="1500" err="1"/>
              <a:t>medibles</a:t>
            </a:r>
            <a:r>
              <a:rPr lang="en-US" sz="1500"/>
              <a:t> que se </a:t>
            </a:r>
            <a:r>
              <a:rPr lang="en-US" sz="1500" err="1"/>
              <a:t>esperan</a:t>
            </a:r>
            <a:r>
              <a:rPr lang="en-US" sz="1500"/>
              <a:t> </a:t>
            </a:r>
            <a:r>
              <a:rPr lang="en-US" sz="1500" err="1"/>
              <a:t>alcanzar</a:t>
            </a:r>
            <a:r>
              <a:rPr lang="en-US" sz="1500"/>
              <a:t>.</a:t>
            </a:r>
          </a:p>
          <a:p>
            <a:pPr>
              <a:lnSpc>
                <a:spcPct val="90000"/>
              </a:lnSpc>
            </a:pPr>
            <a:r>
              <a:rPr lang="en-US" sz="1500" b="1" err="1"/>
              <a:t>Alcance</a:t>
            </a:r>
            <a:r>
              <a:rPr lang="en-US" sz="1500" b="1"/>
              <a:t> </a:t>
            </a:r>
            <a:r>
              <a:rPr lang="en-US" sz="1500" b="1" err="1"/>
              <a:t>preliminar</a:t>
            </a:r>
            <a:r>
              <a:rPr lang="en-US" sz="1500"/>
              <a:t>: a </a:t>
            </a:r>
            <a:r>
              <a:rPr lang="en-US" sz="1500" err="1"/>
              <a:t>quiénes</a:t>
            </a:r>
            <a:r>
              <a:rPr lang="en-US" sz="1500"/>
              <a:t> </a:t>
            </a:r>
            <a:r>
              <a:rPr lang="en-US" sz="1500" err="1"/>
              <a:t>beneficiará</a:t>
            </a:r>
            <a:r>
              <a:rPr lang="en-US" sz="1500"/>
              <a:t> y </a:t>
            </a:r>
            <a:r>
              <a:rPr lang="en-US" sz="1500" err="1"/>
              <a:t>en</a:t>
            </a:r>
            <a:r>
              <a:rPr lang="en-US" sz="1500"/>
              <a:t> </a:t>
            </a:r>
            <a:r>
              <a:rPr lang="en-US" sz="1500" err="1"/>
              <a:t>qué</a:t>
            </a:r>
            <a:r>
              <a:rPr lang="en-US" sz="1500"/>
              <a:t> </a:t>
            </a:r>
            <a:r>
              <a:rPr lang="en-US" sz="1500" err="1"/>
              <a:t>contexto</a:t>
            </a:r>
            <a:r>
              <a:rPr lang="en-US" sz="1500"/>
              <a:t> se </a:t>
            </a:r>
            <a:r>
              <a:rPr lang="en-US" sz="1500" err="1"/>
              <a:t>aplicará</a:t>
            </a:r>
            <a:r>
              <a:rPr lang="en-US" sz="1500"/>
              <a:t>.</a:t>
            </a:r>
          </a:p>
        </p:txBody>
      </p:sp>
      <p:cxnSp>
        <p:nvCxnSpPr>
          <p:cNvPr id="8201" name="Straight Connector 8200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4" name="Picture 2" descr="Árbol de problemas">
            <a:extLst>
              <a:ext uri="{FF2B5EF4-FFF2-40B4-BE49-F238E27FC236}">
                <a16:creationId xmlns:a16="http://schemas.microsoft.com/office/drawing/2014/main" id="{D9A12862-05CA-4237-E464-B3CA62B60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2" r="-2" b="-2"/>
          <a:stretch>
            <a:fillRect/>
          </a:stretch>
        </p:blipFill>
        <p:spPr bwMode="auto">
          <a:xfrm>
            <a:off x="5264837" y="1"/>
            <a:ext cx="6927163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203" name="Group 8202">
            <a:extLst>
              <a:ext uri="{FF2B5EF4-FFF2-40B4-BE49-F238E27FC236}">
                <a16:creationId xmlns:a16="http://schemas.microsoft.com/office/drawing/2014/main" id="{3FCE1FB7-7E83-C242-A5AD-4646FBE1C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8204" name="Freeform 40">
              <a:extLst>
                <a:ext uri="{FF2B5EF4-FFF2-40B4-BE49-F238E27FC236}">
                  <a16:creationId xmlns:a16="http://schemas.microsoft.com/office/drawing/2014/main" id="{B8D18D83-C725-D745-B62E-4CDC73E31D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05" name="Freeform 41">
              <a:extLst>
                <a:ext uri="{FF2B5EF4-FFF2-40B4-BE49-F238E27FC236}">
                  <a16:creationId xmlns:a16="http://schemas.microsoft.com/office/drawing/2014/main" id="{964C4E64-7EB1-3840-94A1-073533B61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06" name="Freeform 42">
              <a:extLst>
                <a:ext uri="{FF2B5EF4-FFF2-40B4-BE49-F238E27FC236}">
                  <a16:creationId xmlns:a16="http://schemas.microsoft.com/office/drawing/2014/main" id="{58747916-12E7-2A44-90AC-868676B613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07" name="Freeform 43">
              <a:extLst>
                <a:ext uri="{FF2B5EF4-FFF2-40B4-BE49-F238E27FC236}">
                  <a16:creationId xmlns:a16="http://schemas.microsoft.com/office/drawing/2014/main" id="{C62734AC-B154-604F-A35D-C78CF94F7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08" name="Freeform 44">
              <a:extLst>
                <a:ext uri="{FF2B5EF4-FFF2-40B4-BE49-F238E27FC236}">
                  <a16:creationId xmlns:a16="http://schemas.microsoft.com/office/drawing/2014/main" id="{AE04421A-F546-4046-8F52-CAE8232AC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09" name="Freeform 45">
              <a:extLst>
                <a:ext uri="{FF2B5EF4-FFF2-40B4-BE49-F238E27FC236}">
                  <a16:creationId xmlns:a16="http://schemas.microsoft.com/office/drawing/2014/main" id="{49F9C907-348C-4142-AB27-429B47D2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10" name="Freeform 46">
              <a:extLst>
                <a:ext uri="{FF2B5EF4-FFF2-40B4-BE49-F238E27FC236}">
                  <a16:creationId xmlns:a16="http://schemas.microsoft.com/office/drawing/2014/main" id="{82917C11-77C6-A84B-A805-16EEAFB7A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03930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3" name="Group 9222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9224" name="Oval 9223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25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26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27" name="Oval 9226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28" name="Oval 9227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29" name="Oval 9228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30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31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32" name="Oval 9231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33" name="Oval 9232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34" name="Oval 9233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35" name="Oval 9234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36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37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38" name="Oval 9237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39" name="Oval 9238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40" name="Oval 9239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41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42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43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44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45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46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47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9249" name="Straight Connector 9248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9251" name="Rectangle 9250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58CE78-66FC-C685-E707-0F452BC98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34"/>
            <a:ext cx="3943055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Paso 1: </a:t>
            </a:r>
            <a:r>
              <a:rPr lang="en-US" sz="2800" b="0"/>
              <a:t>Revisión de propuestas anteriores</a:t>
            </a:r>
            <a:endParaRPr lang="en-US" sz="2800" b="0" dirty="0"/>
          </a:p>
        </p:txBody>
      </p:sp>
      <p:grpSp>
        <p:nvGrpSpPr>
          <p:cNvPr id="9253" name="Group 9252">
            <a:extLst>
              <a:ext uri="{FF2B5EF4-FFF2-40B4-BE49-F238E27FC236}">
                <a16:creationId xmlns:a16="http://schemas.microsoft.com/office/drawing/2014/main" id="{665B630C-8A26-BF40-AD00-AAAB3F8DF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9254" name="Freeform 85">
              <a:extLst>
                <a:ext uri="{FF2B5EF4-FFF2-40B4-BE49-F238E27FC236}">
                  <a16:creationId xmlns:a16="http://schemas.microsoft.com/office/drawing/2014/main" id="{47332152-49D9-5F42-9522-9424EDC70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55" name="Freeform 87">
              <a:extLst>
                <a:ext uri="{FF2B5EF4-FFF2-40B4-BE49-F238E27FC236}">
                  <a16:creationId xmlns:a16="http://schemas.microsoft.com/office/drawing/2014/main" id="{60C97C94-6942-C048-8F6F-55E05CBA1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56" name="Freeform 89">
              <a:extLst>
                <a:ext uri="{FF2B5EF4-FFF2-40B4-BE49-F238E27FC236}">
                  <a16:creationId xmlns:a16="http://schemas.microsoft.com/office/drawing/2014/main" id="{BD92967A-BFB2-E441-AC07-5997DDDD5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57" name="Freeform 100">
              <a:extLst>
                <a:ext uri="{FF2B5EF4-FFF2-40B4-BE49-F238E27FC236}">
                  <a16:creationId xmlns:a16="http://schemas.microsoft.com/office/drawing/2014/main" id="{DC25488D-5181-EC40-A6AC-862FC3787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9259" name="Straight Connector 9258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8" name="Picture 2" descr="The SWOT Analysis, Explained + Examples &amp; Templates — BiteSize Learning">
            <a:extLst>
              <a:ext uri="{FF2B5EF4-FFF2-40B4-BE49-F238E27FC236}">
                <a16:creationId xmlns:a16="http://schemas.microsoft.com/office/drawing/2014/main" id="{72ADDF09-655F-A464-D321-4D8345328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17539" y="1698616"/>
            <a:ext cx="8590704" cy="4832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EA71BF-7369-724D-D5FA-8A809E8EE49F}"/>
              </a:ext>
            </a:extLst>
          </p:cNvPr>
          <p:cNvSpPr txBox="1"/>
          <p:nvPr/>
        </p:nvSpPr>
        <p:spPr>
          <a:xfrm>
            <a:off x="413438" y="2675128"/>
            <a:ext cx="27656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Estudiar proyectos similares, propios o de otras instituciones, para aprender de sus fortalezas y debilidades.</a:t>
            </a:r>
            <a:endParaRPr lang="en-CO" dirty="0"/>
          </a:p>
        </p:txBody>
      </p:sp>
    </p:spTree>
    <p:extLst>
      <p:ext uri="{BB962C8B-B14F-4D97-AF65-F5344CB8AC3E}">
        <p14:creationId xmlns:p14="http://schemas.microsoft.com/office/powerpoint/2010/main" val="1840078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A133C-0256-9E53-5C69-D14E308D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59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O" sz="2800"/>
              <a:t>Paso 2: </a:t>
            </a:r>
            <a:r>
              <a:rPr lang="en-US" sz="2800" b="0"/>
              <a:t>Consulta con </a:t>
            </a:r>
            <a:r>
              <a:rPr lang="en-US" sz="2800" b="0" err="1"/>
              <a:t>expertos</a:t>
            </a:r>
            <a:r>
              <a:rPr lang="en-US" sz="2800" b="0"/>
              <a:t> y </a:t>
            </a:r>
            <a:r>
              <a:rPr lang="en-US" sz="2800" b="0" err="1"/>
              <a:t>coordinadores</a:t>
            </a:r>
            <a:r>
              <a:rPr lang="en-US" sz="2800" b="0"/>
              <a:t> </a:t>
            </a:r>
            <a:r>
              <a:rPr lang="en-US" sz="2800" b="0" err="1"/>
              <a:t>previos</a:t>
            </a:r>
            <a:endParaRPr lang="en-CO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48EBC-5907-FA13-6D7A-9DA11A147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4133559" cy="3601212"/>
          </a:xfrm>
        </p:spPr>
        <p:txBody>
          <a:bodyPr>
            <a:normAutofit/>
          </a:bodyPr>
          <a:lstStyle/>
          <a:p>
            <a:r>
              <a:rPr lang="en-US" dirty="0" err="1"/>
              <a:t>Pedir</a:t>
            </a:r>
            <a:r>
              <a:rPr lang="en-US" dirty="0"/>
              <a:t> </a:t>
            </a:r>
            <a:r>
              <a:rPr lang="en-US" dirty="0" err="1"/>
              <a:t>orientación</a:t>
            </a:r>
            <a:r>
              <a:rPr lang="en-US" dirty="0"/>
              <a:t> a personas con </a:t>
            </a:r>
            <a:r>
              <a:rPr lang="en-US" dirty="0" err="1"/>
              <a:t>experiencia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proyectos</a:t>
            </a:r>
            <a:r>
              <a:rPr lang="en-US" dirty="0"/>
              <a:t> </a:t>
            </a:r>
            <a:r>
              <a:rPr lang="en-US" dirty="0" err="1"/>
              <a:t>similares</a:t>
            </a:r>
            <a:r>
              <a:rPr lang="en-US" dirty="0"/>
              <a:t> o </a:t>
            </a:r>
            <a:r>
              <a:rPr lang="en-US" dirty="0" err="1"/>
              <a:t>incluso</a:t>
            </a:r>
            <a:r>
              <a:rPr lang="en-US" dirty="0"/>
              <a:t> </a:t>
            </a:r>
            <a:r>
              <a:rPr lang="en-US" dirty="0" err="1"/>
              <a:t>contratar</a:t>
            </a:r>
            <a:r>
              <a:rPr lang="en-US" dirty="0"/>
              <a:t> </a:t>
            </a:r>
            <a:r>
              <a:rPr lang="en-US" dirty="0" err="1"/>
              <a:t>consultores</a:t>
            </a:r>
            <a:r>
              <a:rPr lang="en-US" dirty="0"/>
              <a:t> </a:t>
            </a:r>
            <a:r>
              <a:rPr lang="en-US" dirty="0" err="1"/>
              <a:t>especializados</a:t>
            </a:r>
            <a:r>
              <a:rPr lang="en-US" dirty="0"/>
              <a:t>.</a:t>
            </a:r>
            <a:endParaRPr lang="en-CO" dirty="0"/>
          </a:p>
        </p:txBody>
      </p:sp>
      <p:pic>
        <p:nvPicPr>
          <p:cNvPr id="10242" name="Picture 2" descr="Globosdon Consultants – Experience Professional Consulting Service">
            <a:extLst>
              <a:ext uri="{FF2B5EF4-FFF2-40B4-BE49-F238E27FC236}">
                <a16:creationId xmlns:a16="http://schemas.microsoft.com/office/drawing/2014/main" id="{66D59D1B-BA13-688C-51CA-B2C0E3A66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06596" y="933147"/>
            <a:ext cx="6430513" cy="4983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249" name="Group 10248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0250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251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252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253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0255" name="Straight Connector 10254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052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FA3AEF-4DB1-E47C-8B50-D0C4F78C0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43" name="Rectangle 14342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BB26A-83D6-30BD-A130-4051F4112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59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O" sz="2800" dirty="0"/>
              <a:t>Paso 3: </a:t>
            </a:r>
            <a:r>
              <a:rPr lang="en-US" sz="2800" b="0" dirty="0" err="1"/>
              <a:t>Revisión</a:t>
            </a:r>
            <a:r>
              <a:rPr lang="en-US" sz="2800" b="0" dirty="0"/>
              <a:t> de </a:t>
            </a:r>
            <a:r>
              <a:rPr lang="en-US" sz="2800" b="0" dirty="0" err="1"/>
              <a:t>informes</a:t>
            </a:r>
            <a:r>
              <a:rPr lang="en-US" sz="2800" b="0" dirty="0"/>
              <a:t> de </a:t>
            </a:r>
            <a:r>
              <a:rPr lang="en-US" sz="2800" b="0" dirty="0" err="1"/>
              <a:t>evaluación</a:t>
            </a:r>
            <a:r>
              <a:rPr lang="en-US" sz="2800" b="0" dirty="0"/>
              <a:t> de </a:t>
            </a:r>
            <a:r>
              <a:rPr lang="en-US" sz="2800" b="0" dirty="0" err="1"/>
              <a:t>proyectos</a:t>
            </a:r>
            <a:r>
              <a:rPr lang="en-US" sz="2800" b="0" dirty="0"/>
              <a:t> </a:t>
            </a:r>
            <a:r>
              <a:rPr lang="en-US" sz="2800" b="0" dirty="0" err="1"/>
              <a:t>pasados</a:t>
            </a:r>
            <a:endParaRPr lang="en-CO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5CBCC-9AF1-D155-19F3-F57238EDD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4133559" cy="3601212"/>
          </a:xfrm>
        </p:spPr>
        <p:txBody>
          <a:bodyPr>
            <a:normAutofit/>
          </a:bodyPr>
          <a:lstStyle/>
          <a:p>
            <a:r>
              <a:rPr lang="en-US" dirty="0" err="1"/>
              <a:t>Analizar</a:t>
            </a:r>
            <a:r>
              <a:rPr lang="en-US" dirty="0"/>
              <a:t> </a:t>
            </a:r>
            <a:r>
              <a:rPr lang="en-US" dirty="0" err="1"/>
              <a:t>reportes</a:t>
            </a:r>
            <a:r>
              <a:rPr lang="en-US" dirty="0"/>
              <a:t> que </a:t>
            </a:r>
            <a:r>
              <a:rPr lang="en-US" dirty="0" err="1"/>
              <a:t>aporten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metodología</a:t>
            </a:r>
            <a:r>
              <a:rPr lang="en-US" dirty="0"/>
              <a:t>, </a:t>
            </a:r>
            <a:r>
              <a:rPr lang="en-US" dirty="0" err="1"/>
              <a:t>evaluación</a:t>
            </a:r>
            <a:r>
              <a:rPr lang="en-US" dirty="0"/>
              <a:t> e </a:t>
            </a:r>
            <a:r>
              <a:rPr lang="en-US" dirty="0" err="1"/>
              <a:t>impacto</a:t>
            </a:r>
            <a:r>
              <a:rPr lang="en-US" dirty="0"/>
              <a:t>.</a:t>
            </a:r>
            <a:endParaRPr lang="en-CO" dirty="0"/>
          </a:p>
        </p:txBody>
      </p:sp>
      <p:pic>
        <p:nvPicPr>
          <p:cNvPr id="14338" name="Picture 2" descr="Understanding the Importance and Impact of Process Evaluation">
            <a:extLst>
              <a:ext uri="{FF2B5EF4-FFF2-40B4-BE49-F238E27FC236}">
                <a16:creationId xmlns:a16="http://schemas.microsoft.com/office/drawing/2014/main" id="{ADA76FF1-3819-5FB3-BCB4-A01AA9FFF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06596" y="1616093"/>
            <a:ext cx="6430513" cy="361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345" name="Group 14344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4346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347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348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349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4351" name="Straight Connector 14350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612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FA476-ECA6-63A5-CD50-CB6C0C00E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C4F8C-968D-6506-DBB4-D05F9FCDC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59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O" sz="2800" dirty="0"/>
              <a:t>Paso 4: </a:t>
            </a:r>
            <a:r>
              <a:rPr lang="en-US" sz="2800" b="0" err="1"/>
              <a:t>Interacción</a:t>
            </a:r>
            <a:r>
              <a:rPr lang="en-US" sz="2800" b="0"/>
              <a:t> con </a:t>
            </a:r>
            <a:r>
              <a:rPr lang="en-US" sz="2800" b="0" err="1"/>
              <a:t>los</a:t>
            </a:r>
            <a:r>
              <a:rPr lang="en-US" sz="2800" b="0"/>
              <a:t> </a:t>
            </a:r>
            <a:r>
              <a:rPr lang="en-US" sz="2800" b="0" err="1"/>
              <a:t>posibles</a:t>
            </a:r>
            <a:r>
              <a:rPr lang="en-US" sz="2800" b="0"/>
              <a:t> </a:t>
            </a:r>
            <a:r>
              <a:rPr lang="en-US" sz="2800" b="0" err="1"/>
              <a:t>beneficiarios</a:t>
            </a:r>
            <a:endParaRPr lang="en-CO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9D459-F748-09B1-C7F9-A60C109C1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4133559" cy="3601212"/>
          </a:xfrm>
        </p:spPr>
        <p:txBody>
          <a:bodyPr>
            <a:normAutofit/>
          </a:bodyPr>
          <a:lstStyle/>
          <a:p>
            <a:r>
              <a:rPr lang="en-CO" dirty="0"/>
              <a:t>C</a:t>
            </a:r>
            <a:r>
              <a:rPr lang="en-US" dirty="0" err="1"/>
              <a:t>onversar</a:t>
            </a:r>
            <a:r>
              <a:rPr lang="en-US" dirty="0"/>
              <a:t> con </a:t>
            </a:r>
            <a:r>
              <a:rPr lang="en-US" dirty="0" err="1"/>
              <a:t>quienes</a:t>
            </a:r>
            <a:r>
              <a:rPr lang="en-US" dirty="0"/>
              <a:t> </a:t>
            </a:r>
            <a:r>
              <a:rPr lang="en-US" dirty="0" err="1"/>
              <a:t>recibirán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beneficio</a:t>
            </a:r>
            <a:r>
              <a:rPr lang="en-US" dirty="0"/>
              <a:t> del </a:t>
            </a:r>
            <a:r>
              <a:rPr lang="en-US" dirty="0" err="1"/>
              <a:t>proyecto</a:t>
            </a:r>
            <a:r>
              <a:rPr lang="en-US" dirty="0"/>
              <a:t> para </a:t>
            </a:r>
            <a:r>
              <a:rPr lang="en-US" dirty="0" err="1"/>
              <a:t>identificar</a:t>
            </a:r>
            <a:r>
              <a:rPr lang="en-US" dirty="0"/>
              <a:t> sus </a:t>
            </a:r>
            <a:r>
              <a:rPr lang="en-US" dirty="0" err="1"/>
              <a:t>necesidades</a:t>
            </a:r>
            <a:r>
              <a:rPr lang="en-US" dirty="0"/>
              <a:t> </a:t>
            </a:r>
            <a:r>
              <a:rPr lang="en-US" dirty="0" err="1"/>
              <a:t>reales</a:t>
            </a:r>
            <a:r>
              <a:rPr lang="en-US" dirty="0"/>
              <a:t>.</a:t>
            </a:r>
            <a:endParaRPr lang="en-CO" dirty="0"/>
          </a:p>
        </p:txBody>
      </p:sp>
      <p:pic>
        <p:nvPicPr>
          <p:cNvPr id="11266" name="Picture 2" descr="Experience a Weekend of Worship, Teaching, and Fellowship at Men's Advance!  - Camp Lebanon">
            <a:extLst>
              <a:ext uri="{FF2B5EF4-FFF2-40B4-BE49-F238E27FC236}">
                <a16:creationId xmlns:a16="http://schemas.microsoft.com/office/drawing/2014/main" id="{909754F1-2AF9-AC25-17D6-ABED01AF4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06596" y="1278491"/>
            <a:ext cx="6430513" cy="4292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273" name="Group 11272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1274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275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276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277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1279" name="Straight Connector 11278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455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2EC5A4-E2AE-4FC3-3BD0-492CDD3EA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5" name="Rectangle 12294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F27BD0-F361-AA47-CC52-F9DF023ED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59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O" sz="2800" dirty="0"/>
              <a:t>Paso 5: </a:t>
            </a:r>
            <a:r>
              <a:rPr lang="en-US" sz="2800" b="0" err="1"/>
              <a:t>Revisión</a:t>
            </a:r>
            <a:r>
              <a:rPr lang="en-US" sz="2800" b="0"/>
              <a:t> de </a:t>
            </a:r>
            <a:r>
              <a:rPr lang="en-US" sz="2800" b="0" err="1"/>
              <a:t>datos</a:t>
            </a:r>
            <a:r>
              <a:rPr lang="en-US" sz="2800" b="0"/>
              <a:t> </a:t>
            </a:r>
            <a:r>
              <a:rPr lang="en-US" sz="2800" b="0" err="1"/>
              <a:t>estadísticos</a:t>
            </a:r>
            <a:r>
              <a:rPr lang="en-US" sz="2800" b="0"/>
              <a:t> e </a:t>
            </a:r>
            <a:r>
              <a:rPr lang="en-US" sz="2800" b="0" err="1"/>
              <a:t>informes</a:t>
            </a:r>
            <a:endParaRPr lang="en-CO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34AC8-3A03-E382-35C0-2D70FC150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4133559" cy="3601212"/>
          </a:xfrm>
        </p:spPr>
        <p:txBody>
          <a:bodyPr>
            <a:normAutofit/>
          </a:bodyPr>
          <a:lstStyle/>
          <a:p>
            <a:r>
              <a:rPr lang="en-US" dirty="0" err="1"/>
              <a:t>Recopilar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cuantitativa</a:t>
            </a:r>
            <a:r>
              <a:rPr lang="en-US" dirty="0"/>
              <a:t> de </a:t>
            </a:r>
            <a:r>
              <a:rPr lang="en-US" dirty="0" err="1"/>
              <a:t>proyectos</a:t>
            </a:r>
            <a:r>
              <a:rPr lang="en-US" dirty="0"/>
              <a:t> </a:t>
            </a:r>
            <a:r>
              <a:rPr lang="en-US" dirty="0" err="1"/>
              <a:t>previos</a:t>
            </a:r>
            <a:r>
              <a:rPr lang="en-US" dirty="0"/>
              <a:t> para </a:t>
            </a:r>
            <a:r>
              <a:rPr lang="en-US" dirty="0" err="1"/>
              <a:t>fundamentar</a:t>
            </a:r>
            <a:r>
              <a:rPr lang="en-US" dirty="0"/>
              <a:t> la </a:t>
            </a:r>
            <a:r>
              <a:rPr lang="en-US" dirty="0" err="1"/>
              <a:t>estrategia</a:t>
            </a:r>
            <a:r>
              <a:rPr lang="en-US" dirty="0"/>
              <a:t>.</a:t>
            </a:r>
            <a:endParaRPr lang="en-CO" dirty="0"/>
          </a:p>
        </p:txBody>
      </p:sp>
      <p:pic>
        <p:nvPicPr>
          <p:cNvPr id="12290" name="Picture 2" descr="15 Reasons to Choose Quantitative over Qualitative Research">
            <a:extLst>
              <a:ext uri="{FF2B5EF4-FFF2-40B4-BE49-F238E27FC236}">
                <a16:creationId xmlns:a16="http://schemas.microsoft.com/office/drawing/2014/main" id="{7F54F6EA-B02D-EB7B-9E65-2AEE678A6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06596" y="1310643"/>
            <a:ext cx="6430513" cy="422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297" name="Group 12296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298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299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300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301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2303" name="Straight Connector 12302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179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574669-0202-7CFF-3B49-DE0FC2F33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9" name="Rectangle 1331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BF5EAE-86B6-04C6-88CA-8DF3A8276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59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O" sz="2800" dirty="0"/>
              <a:t>Paso 6: </a:t>
            </a:r>
            <a:r>
              <a:rPr lang="en-US" sz="2800" b="0" dirty="0" err="1"/>
              <a:t>Grupos</a:t>
            </a:r>
            <a:r>
              <a:rPr lang="en-US" sz="2800" b="0" dirty="0"/>
              <a:t> </a:t>
            </a:r>
            <a:r>
              <a:rPr lang="en-US" sz="2800" b="0" dirty="0" err="1"/>
              <a:t>focales</a:t>
            </a:r>
            <a:r>
              <a:rPr lang="en-US" sz="2800" b="0" dirty="0"/>
              <a:t> con </a:t>
            </a:r>
            <a:r>
              <a:rPr lang="en-US" sz="2800" b="0" dirty="0" err="1"/>
              <a:t>beneficiarios</a:t>
            </a:r>
            <a:r>
              <a:rPr lang="en-US" sz="2800" b="0" dirty="0"/>
              <a:t> o </a:t>
            </a:r>
            <a:r>
              <a:rPr lang="en-US" sz="2800" b="0" dirty="0" err="1"/>
              <a:t>actores</a:t>
            </a:r>
            <a:r>
              <a:rPr lang="en-US" sz="2800" b="0" dirty="0"/>
              <a:t> clave</a:t>
            </a:r>
            <a:endParaRPr lang="en-CO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376F5-80A2-4745-20C8-50B547D12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4133559" cy="3601212"/>
          </a:xfrm>
        </p:spPr>
        <p:txBody>
          <a:bodyPr>
            <a:normAutofit/>
          </a:bodyPr>
          <a:lstStyle/>
          <a:p>
            <a:r>
              <a:rPr lang="en-US" dirty="0" err="1"/>
              <a:t>Organizar</a:t>
            </a:r>
            <a:r>
              <a:rPr lang="en-US" dirty="0"/>
              <a:t> </a:t>
            </a:r>
            <a:r>
              <a:rPr lang="en-US" dirty="0" err="1"/>
              <a:t>discusiones</a:t>
            </a:r>
            <a:r>
              <a:rPr lang="en-US" dirty="0"/>
              <a:t> </a:t>
            </a:r>
            <a:r>
              <a:rPr lang="en-US" dirty="0" err="1"/>
              <a:t>participativas</a:t>
            </a:r>
            <a:r>
              <a:rPr lang="en-US" dirty="0"/>
              <a:t> que </a:t>
            </a:r>
            <a:r>
              <a:rPr lang="en-US" dirty="0" err="1"/>
              <a:t>permitan</a:t>
            </a:r>
            <a:r>
              <a:rPr lang="en-US" dirty="0"/>
              <a:t> </a:t>
            </a:r>
            <a:r>
              <a:rPr lang="en-US" dirty="0" err="1"/>
              <a:t>contrastar</a:t>
            </a:r>
            <a:r>
              <a:rPr lang="en-US" dirty="0"/>
              <a:t> y </a:t>
            </a:r>
            <a:r>
              <a:rPr lang="en-US" dirty="0" err="1"/>
              <a:t>validar</a:t>
            </a:r>
            <a:r>
              <a:rPr lang="en-US" dirty="0"/>
              <a:t> las </a:t>
            </a:r>
            <a:r>
              <a:rPr lang="en-US" dirty="0" err="1"/>
              <a:t>necesidades</a:t>
            </a:r>
            <a:r>
              <a:rPr lang="en-US" dirty="0"/>
              <a:t> </a:t>
            </a:r>
            <a:r>
              <a:rPr lang="en-US" dirty="0" err="1"/>
              <a:t>detectadas</a:t>
            </a:r>
            <a:r>
              <a:rPr lang="en-US" dirty="0"/>
              <a:t>.</a:t>
            </a:r>
            <a:endParaRPr lang="en-CO" dirty="0"/>
          </a:p>
        </p:txBody>
      </p:sp>
      <p:pic>
        <p:nvPicPr>
          <p:cNvPr id="13314" name="Picture 2" descr="48+ Thousand College Group Discussion Royalty-Free Images, Stock Photos &amp;  Pictures | Shutterstock">
            <a:extLst>
              <a:ext uri="{FF2B5EF4-FFF2-40B4-BE49-F238E27FC236}">
                <a16:creationId xmlns:a16="http://schemas.microsoft.com/office/drawing/2014/main" id="{AEA54F1F-49DF-5C51-381B-72A2AF624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06596" y="1817046"/>
            <a:ext cx="6430513" cy="3215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321" name="Group 13320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3322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323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324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325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3327" name="Straight Connector 13326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121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9" name="Rectangle 1536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371" name="Group 15370">
            <a:extLst>
              <a:ext uri="{FF2B5EF4-FFF2-40B4-BE49-F238E27FC236}">
                <a16:creationId xmlns:a16="http://schemas.microsoft.com/office/drawing/2014/main" id="{70EBDB1D-17AA-8140-B216-35CBA8C9E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5372" name="Freeform 34">
              <a:extLst>
                <a:ext uri="{FF2B5EF4-FFF2-40B4-BE49-F238E27FC236}">
                  <a16:creationId xmlns:a16="http://schemas.microsoft.com/office/drawing/2014/main" id="{98E3FFBE-BCB2-4744-8CA3-BC11F11AD4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373" name="Freeform 36">
              <a:extLst>
                <a:ext uri="{FF2B5EF4-FFF2-40B4-BE49-F238E27FC236}">
                  <a16:creationId xmlns:a16="http://schemas.microsoft.com/office/drawing/2014/main" id="{BBD5B432-1551-644A-B937-54EFF4201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374" name="Freeform 38">
              <a:extLst>
                <a:ext uri="{FF2B5EF4-FFF2-40B4-BE49-F238E27FC236}">
                  <a16:creationId xmlns:a16="http://schemas.microsoft.com/office/drawing/2014/main" id="{BDCFB512-5A0E-0143-B5B7-6A965E100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375" name="Freeform 50">
              <a:extLst>
                <a:ext uri="{FF2B5EF4-FFF2-40B4-BE49-F238E27FC236}">
                  <a16:creationId xmlns:a16="http://schemas.microsoft.com/office/drawing/2014/main" id="{EEDAA716-EDDF-5941-A55E-C12C893A3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A2A710A-304F-8AA3-0A66-2252ED627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280" y="770890"/>
            <a:ext cx="4133560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Formato de </a:t>
            </a:r>
            <a:r>
              <a:rPr lang="en-US" sz="2800" dirty="0" err="1"/>
              <a:t>una</a:t>
            </a:r>
            <a:r>
              <a:rPr lang="en-US" sz="2800" dirty="0"/>
              <a:t> </a:t>
            </a:r>
            <a:r>
              <a:rPr lang="en-US" sz="2800" dirty="0" err="1"/>
              <a:t>propuesta</a:t>
            </a:r>
            <a:r>
              <a:rPr lang="en-US" sz="2800" dirty="0"/>
              <a:t> de </a:t>
            </a:r>
            <a:r>
              <a:rPr lang="en-US" sz="2800" dirty="0" err="1"/>
              <a:t>proyecto</a:t>
            </a:r>
            <a:endParaRPr lang="en-CO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76D0-EF19-BE47-90DE-087069C09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280" y="2160016"/>
            <a:ext cx="4133560" cy="36012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err="1"/>
              <a:t>Título</a:t>
            </a:r>
            <a:r>
              <a:rPr lang="en-US" sz="1500"/>
              <a:t> y </a:t>
            </a:r>
            <a:r>
              <a:rPr lang="en-US" sz="1500" err="1"/>
              <a:t>resumen</a:t>
            </a:r>
            <a:r>
              <a:rPr lang="en-US" sz="1500"/>
              <a:t> </a:t>
            </a:r>
            <a:r>
              <a:rPr lang="en-US" sz="1500" err="1"/>
              <a:t>ejecutivo</a:t>
            </a:r>
            <a:endParaRPr lang="en-US" sz="1500"/>
          </a:p>
          <a:p>
            <a:pPr>
              <a:lnSpc>
                <a:spcPct val="90000"/>
              </a:lnSpc>
            </a:pPr>
            <a:r>
              <a:rPr lang="en-US" sz="1500" err="1"/>
              <a:t>Introducción</a:t>
            </a:r>
            <a:r>
              <a:rPr lang="en-US" sz="1500"/>
              <a:t> y </a:t>
            </a:r>
            <a:r>
              <a:rPr lang="en-US" sz="1500" err="1"/>
              <a:t>planteamiento</a:t>
            </a:r>
            <a:r>
              <a:rPr lang="en-US" sz="1500"/>
              <a:t> del </a:t>
            </a:r>
            <a:r>
              <a:rPr lang="en-US" sz="1500" err="1"/>
              <a:t>problema</a:t>
            </a:r>
            <a:endParaRPr lang="en-US" sz="1500"/>
          </a:p>
          <a:p>
            <a:pPr>
              <a:lnSpc>
                <a:spcPct val="90000"/>
              </a:lnSpc>
            </a:pPr>
            <a:r>
              <a:rPr lang="en-US" sz="1500" err="1"/>
              <a:t>Objetivo</a:t>
            </a:r>
            <a:r>
              <a:rPr lang="en-US" sz="1500"/>
              <a:t> general y </a:t>
            </a:r>
            <a:r>
              <a:rPr lang="en-US" sz="1500" err="1"/>
              <a:t>específicos</a:t>
            </a:r>
            <a:r>
              <a:rPr lang="en-US" sz="1500"/>
              <a:t> (SMART)</a:t>
            </a:r>
          </a:p>
          <a:p>
            <a:pPr>
              <a:lnSpc>
                <a:spcPct val="90000"/>
              </a:lnSpc>
            </a:pPr>
            <a:r>
              <a:rPr lang="en-US" sz="1500" err="1"/>
              <a:t>Resultados</a:t>
            </a:r>
            <a:r>
              <a:rPr lang="en-US" sz="1500"/>
              <a:t> </a:t>
            </a:r>
            <a:r>
              <a:rPr lang="en-US" sz="1500" err="1"/>
              <a:t>esperados</a:t>
            </a:r>
            <a:r>
              <a:rPr lang="en-US" sz="1500"/>
              <a:t> (outputs)</a:t>
            </a:r>
          </a:p>
          <a:p>
            <a:pPr>
              <a:lnSpc>
                <a:spcPct val="90000"/>
              </a:lnSpc>
            </a:pPr>
            <a:r>
              <a:rPr lang="en-US" sz="1500"/>
              <a:t>Población </a:t>
            </a:r>
            <a:r>
              <a:rPr lang="en-US" sz="1500" err="1"/>
              <a:t>objetivo</a:t>
            </a:r>
            <a:r>
              <a:rPr lang="en-US" sz="1500"/>
              <a:t> y </a:t>
            </a:r>
            <a:r>
              <a:rPr lang="en-US" sz="1500" err="1"/>
              <a:t>beneficiarios</a:t>
            </a:r>
            <a:endParaRPr lang="en-US" sz="1500"/>
          </a:p>
          <a:p>
            <a:pPr>
              <a:lnSpc>
                <a:spcPct val="90000"/>
              </a:lnSpc>
            </a:pPr>
            <a:r>
              <a:rPr lang="en-US" sz="1500" err="1"/>
              <a:t>Estrategias</a:t>
            </a:r>
            <a:r>
              <a:rPr lang="en-US" sz="1500"/>
              <a:t> y </a:t>
            </a:r>
            <a:r>
              <a:rPr lang="en-US" sz="1500" err="1"/>
              <a:t>actividades</a:t>
            </a:r>
            <a:r>
              <a:rPr lang="en-US" sz="1500"/>
              <a:t> </a:t>
            </a:r>
            <a:r>
              <a:rPr lang="en-US" sz="1500" err="1"/>
              <a:t>principales</a:t>
            </a:r>
            <a:endParaRPr lang="en-US" sz="1500"/>
          </a:p>
          <a:p>
            <a:pPr>
              <a:lnSpc>
                <a:spcPct val="90000"/>
              </a:lnSpc>
            </a:pPr>
            <a:r>
              <a:rPr lang="en-US" sz="1500" err="1"/>
              <a:t>Cronograma</a:t>
            </a:r>
            <a:r>
              <a:rPr lang="en-US" sz="1500"/>
              <a:t> (Gantt) y </a:t>
            </a:r>
            <a:r>
              <a:rPr lang="en-US" sz="1500" err="1"/>
              <a:t>recursos</a:t>
            </a:r>
            <a:r>
              <a:rPr lang="en-US" sz="1500"/>
              <a:t> </a:t>
            </a:r>
            <a:r>
              <a:rPr lang="en-US" sz="1500" err="1"/>
              <a:t>requeridos</a:t>
            </a:r>
            <a:endParaRPr lang="en-US" sz="1500"/>
          </a:p>
          <a:p>
            <a:pPr>
              <a:lnSpc>
                <a:spcPct val="90000"/>
              </a:lnSpc>
            </a:pPr>
            <a:r>
              <a:rPr lang="en-US" sz="1500" err="1"/>
              <a:t>Monitoreo</a:t>
            </a:r>
            <a:r>
              <a:rPr lang="en-US" sz="1500"/>
              <a:t>, </a:t>
            </a:r>
            <a:r>
              <a:rPr lang="en-US" sz="1500" err="1"/>
              <a:t>evaluación</a:t>
            </a:r>
            <a:r>
              <a:rPr lang="en-US" sz="1500"/>
              <a:t> e </a:t>
            </a:r>
            <a:r>
              <a:rPr lang="en-US" sz="1500" err="1"/>
              <a:t>informes</a:t>
            </a:r>
            <a:endParaRPr lang="en-US" sz="1500"/>
          </a:p>
          <a:p>
            <a:pPr>
              <a:lnSpc>
                <a:spcPct val="90000"/>
              </a:lnSpc>
            </a:pPr>
            <a:r>
              <a:rPr lang="en-US" sz="1500" err="1"/>
              <a:t>Gestión</a:t>
            </a:r>
            <a:r>
              <a:rPr lang="en-US" sz="1500"/>
              <a:t> del </a:t>
            </a:r>
            <a:r>
              <a:rPr lang="en-US" sz="1500" err="1"/>
              <a:t>proyecto</a:t>
            </a:r>
            <a:r>
              <a:rPr lang="en-US" sz="1500"/>
              <a:t> y </a:t>
            </a:r>
            <a:r>
              <a:rPr lang="en-US" sz="1500" err="1"/>
              <a:t>equipo</a:t>
            </a:r>
            <a:r>
              <a:rPr lang="en-US" sz="1500"/>
              <a:t> </a:t>
            </a:r>
            <a:r>
              <a:rPr lang="en-US" sz="1500" err="1"/>
              <a:t>responsable</a:t>
            </a:r>
            <a:endParaRPr lang="en-US" sz="1500"/>
          </a:p>
        </p:txBody>
      </p:sp>
      <p:pic>
        <p:nvPicPr>
          <p:cNvPr id="15364" name="Picture 4" descr="What is the Role of Project Proposal in Project Management? | Hygger.io">
            <a:extLst>
              <a:ext uri="{FF2B5EF4-FFF2-40B4-BE49-F238E27FC236}">
                <a16:creationId xmlns:a16="http://schemas.microsoft.com/office/drawing/2014/main" id="{0D21B7D6-148E-68AC-DFE2-7DC395FBB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03" r="16792"/>
          <a:stretch>
            <a:fillRect/>
          </a:stretch>
        </p:blipFill>
        <p:spPr bwMode="auto">
          <a:xfrm>
            <a:off x="20" y="1"/>
            <a:ext cx="6927143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377" name="Straight Connector 15376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93279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580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91" name="Rectangle 16390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386" name="Picture 2" descr="Project Proposal: How to Write One Without Actually Writing Anything">
            <a:extLst>
              <a:ext uri="{FF2B5EF4-FFF2-40B4-BE49-F238E27FC236}">
                <a16:creationId xmlns:a16="http://schemas.microsoft.com/office/drawing/2014/main" id="{461C7EAF-D4A7-BEBD-1336-1212A2B7E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93" name="Rectangle">
            <a:extLst>
              <a:ext uri="{FF2B5EF4-FFF2-40B4-BE49-F238E27FC236}">
                <a16:creationId xmlns:a16="http://schemas.microsoft.com/office/drawing/2014/main" id="{14ACB00F-615E-0E4F-9794-329E08F6E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8469492" cy="6858000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62155-EBB2-DBEE-F338-A3A92DF9D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01041"/>
            <a:ext cx="7335835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Formato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propuesta</a:t>
            </a:r>
            <a:r>
              <a:rPr lang="en-US" dirty="0"/>
              <a:t> de </a:t>
            </a:r>
            <a:r>
              <a:rPr lang="en-US" dirty="0" err="1"/>
              <a:t>proyecto</a:t>
            </a:r>
            <a:endParaRPr lang="en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4AD93-01BC-3A31-8629-DDDE18083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60" y="1471065"/>
            <a:ext cx="8059479" cy="490247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1600" b="1" dirty="0"/>
              <a:t>Página de </a:t>
            </a:r>
            <a:r>
              <a:rPr lang="en-US" sz="1600" b="1" dirty="0" err="1"/>
              <a:t>título</a:t>
            </a:r>
            <a:r>
              <a:rPr lang="en-US" sz="1600" dirty="0"/>
              <a:t>: </a:t>
            </a:r>
            <a:r>
              <a:rPr lang="en-US" sz="1600" dirty="0" err="1"/>
              <a:t>debe</a:t>
            </a:r>
            <a:r>
              <a:rPr lang="en-US" sz="1600" dirty="0"/>
              <a:t> </a:t>
            </a:r>
            <a:r>
              <a:rPr lang="en-US" sz="1600" dirty="0" err="1"/>
              <a:t>indicar</a:t>
            </a:r>
            <a:r>
              <a:rPr lang="en-US" sz="1600" dirty="0"/>
              <a:t> </a:t>
            </a:r>
            <a:r>
              <a:rPr lang="en-US" sz="1600" dirty="0" err="1"/>
              <a:t>claramente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título</a:t>
            </a:r>
            <a:r>
              <a:rPr lang="en-US" sz="1600" dirty="0"/>
              <a:t> del </a:t>
            </a:r>
            <a:r>
              <a:rPr lang="en-US" sz="1600" dirty="0" err="1"/>
              <a:t>proyecto</a:t>
            </a:r>
            <a:r>
              <a:rPr lang="en-US" sz="1600" dirty="0"/>
              <a:t>, la </a:t>
            </a:r>
            <a:r>
              <a:rPr lang="en-US" sz="1600" dirty="0" err="1"/>
              <a:t>institución</a:t>
            </a:r>
            <a:r>
              <a:rPr lang="en-US" sz="1600" dirty="0"/>
              <a:t> y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organismo</a:t>
            </a:r>
            <a:r>
              <a:rPr lang="en-US" sz="1600" dirty="0"/>
              <a:t> al que se </a:t>
            </a:r>
            <a:r>
              <a:rPr lang="en-US" sz="1600" dirty="0" err="1"/>
              <a:t>presenta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600" b="1" dirty="0" err="1"/>
              <a:t>Resumen</a:t>
            </a:r>
            <a:r>
              <a:rPr lang="en-US" sz="1600" b="1" dirty="0"/>
              <a:t>/Abstract</a:t>
            </a:r>
            <a:r>
              <a:rPr lang="en-US" sz="1600" dirty="0"/>
              <a:t>: </a:t>
            </a:r>
            <a:r>
              <a:rPr lang="en-US" sz="1600" dirty="0" err="1"/>
              <a:t>síntesis</a:t>
            </a:r>
            <a:r>
              <a:rPr lang="en-US" sz="1600" dirty="0"/>
              <a:t> breve con </a:t>
            </a:r>
            <a:r>
              <a:rPr lang="en-US" sz="1600" dirty="0" err="1"/>
              <a:t>problema</a:t>
            </a:r>
            <a:r>
              <a:rPr lang="en-US" sz="1600" dirty="0"/>
              <a:t>, </a:t>
            </a:r>
            <a:r>
              <a:rPr lang="en-US" sz="1600" dirty="0" err="1"/>
              <a:t>objetivos</a:t>
            </a:r>
            <a:r>
              <a:rPr lang="en-US" sz="1600" dirty="0"/>
              <a:t>, </a:t>
            </a:r>
            <a:r>
              <a:rPr lang="en-US" sz="1600" dirty="0" err="1"/>
              <a:t>organización</a:t>
            </a:r>
            <a:r>
              <a:rPr lang="en-US" sz="1600" dirty="0"/>
              <a:t> </a:t>
            </a:r>
            <a:r>
              <a:rPr lang="en-US" sz="1600" dirty="0" err="1"/>
              <a:t>ejecutora</a:t>
            </a:r>
            <a:r>
              <a:rPr lang="en-US" sz="1600" dirty="0"/>
              <a:t>, </a:t>
            </a:r>
            <a:r>
              <a:rPr lang="en-US" sz="1600" dirty="0" err="1"/>
              <a:t>actividades</a:t>
            </a:r>
            <a:r>
              <a:rPr lang="en-US" sz="1600" dirty="0"/>
              <a:t> clave, </a:t>
            </a:r>
            <a:r>
              <a:rPr lang="en-US" sz="1600" dirty="0" err="1"/>
              <a:t>resultados</a:t>
            </a:r>
            <a:r>
              <a:rPr lang="en-US" sz="1600" dirty="0"/>
              <a:t> </a:t>
            </a:r>
            <a:r>
              <a:rPr lang="en-US" sz="1600" dirty="0" err="1"/>
              <a:t>esperados</a:t>
            </a:r>
            <a:r>
              <a:rPr lang="en-US" sz="1600" dirty="0"/>
              <a:t> y </a:t>
            </a:r>
            <a:r>
              <a:rPr lang="en-US" sz="1600" dirty="0" err="1"/>
              <a:t>presupuesto</a:t>
            </a:r>
            <a:r>
              <a:rPr lang="en-US" sz="1600" dirty="0"/>
              <a:t> total.</a:t>
            </a:r>
          </a:p>
          <a:p>
            <a:pPr>
              <a:lnSpc>
                <a:spcPct val="90000"/>
              </a:lnSpc>
            </a:pPr>
            <a:r>
              <a:rPr lang="en-US" sz="1600" b="1" dirty="0" err="1"/>
              <a:t>Introducción</a:t>
            </a:r>
            <a:r>
              <a:rPr lang="en-US" sz="1600" dirty="0"/>
              <a:t>: </a:t>
            </a:r>
            <a:r>
              <a:rPr lang="en-US" sz="1600" dirty="0" err="1"/>
              <a:t>explicación</a:t>
            </a:r>
            <a:r>
              <a:rPr lang="en-US" sz="1600" dirty="0"/>
              <a:t> breve del </a:t>
            </a:r>
            <a:r>
              <a:rPr lang="en-US" sz="1600" dirty="0" err="1"/>
              <a:t>contexto</a:t>
            </a:r>
            <a:r>
              <a:rPr lang="en-US" sz="1600" dirty="0"/>
              <a:t> y la </a:t>
            </a:r>
            <a:r>
              <a:rPr lang="en-US" sz="1600" dirty="0" err="1"/>
              <a:t>relevancia</a:t>
            </a:r>
            <a:r>
              <a:rPr lang="en-US" sz="1600" dirty="0"/>
              <a:t> del </a:t>
            </a:r>
            <a:r>
              <a:rPr lang="en-US" sz="1600" dirty="0" err="1"/>
              <a:t>proyecto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600" b="1" dirty="0" err="1"/>
              <a:t>Planteamiento</a:t>
            </a:r>
            <a:r>
              <a:rPr lang="en-US" sz="1600" b="1" dirty="0"/>
              <a:t> del </a:t>
            </a:r>
            <a:r>
              <a:rPr lang="en-US" sz="1600" b="1" dirty="0" err="1"/>
              <a:t>problema</a:t>
            </a:r>
            <a:r>
              <a:rPr lang="en-US" sz="1600" dirty="0"/>
              <a:t>: </a:t>
            </a:r>
            <a:r>
              <a:rPr lang="en-US" sz="1600" dirty="0" err="1"/>
              <a:t>antecedentes</a:t>
            </a:r>
            <a:r>
              <a:rPr lang="en-US" sz="1600" dirty="0"/>
              <a:t>, </a:t>
            </a:r>
            <a:r>
              <a:rPr lang="en-US" sz="1600" dirty="0" err="1"/>
              <a:t>causas</a:t>
            </a:r>
            <a:r>
              <a:rPr lang="en-US" sz="1600" dirty="0"/>
              <a:t> y </a:t>
            </a:r>
            <a:r>
              <a:rPr lang="en-US" sz="1600" dirty="0" err="1"/>
              <a:t>efectos</a:t>
            </a:r>
            <a:r>
              <a:rPr lang="en-US" sz="1600" dirty="0"/>
              <a:t> del </a:t>
            </a:r>
            <a:r>
              <a:rPr lang="en-US" sz="1600" dirty="0" err="1"/>
              <a:t>problema</a:t>
            </a:r>
            <a:r>
              <a:rPr lang="en-US" sz="1600" dirty="0"/>
              <a:t> que se </a:t>
            </a:r>
            <a:r>
              <a:rPr lang="en-US" sz="1600" dirty="0" err="1"/>
              <a:t>busca</a:t>
            </a:r>
            <a:r>
              <a:rPr lang="en-US" sz="1600" dirty="0"/>
              <a:t> resolver, </a:t>
            </a:r>
            <a:r>
              <a:rPr lang="en-US" sz="1600" dirty="0" err="1"/>
              <a:t>mostrando</a:t>
            </a:r>
            <a:r>
              <a:rPr lang="en-US" sz="1600" dirty="0"/>
              <a:t> la </a:t>
            </a:r>
            <a:r>
              <a:rPr lang="en-US" sz="1600" dirty="0" err="1"/>
              <a:t>necesidad</a:t>
            </a:r>
            <a:r>
              <a:rPr lang="en-US" sz="1600" dirty="0"/>
              <a:t> del </a:t>
            </a:r>
            <a:r>
              <a:rPr lang="en-US" sz="1600" dirty="0" err="1"/>
              <a:t>proyecto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600" b="1" dirty="0" err="1"/>
              <a:t>Objetivo</a:t>
            </a:r>
            <a:r>
              <a:rPr lang="en-US" sz="1600" b="1" dirty="0"/>
              <a:t> general y </a:t>
            </a:r>
            <a:r>
              <a:rPr lang="en-US" sz="1600" b="1" dirty="0" err="1"/>
              <a:t>específicos</a:t>
            </a:r>
            <a:r>
              <a:rPr lang="en-US" sz="1600" dirty="0"/>
              <a:t>: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objetivo</a:t>
            </a:r>
            <a:r>
              <a:rPr lang="en-US" sz="1600" dirty="0"/>
              <a:t> general </a:t>
            </a:r>
            <a:r>
              <a:rPr lang="en-US" sz="1600" dirty="0" err="1"/>
              <a:t>marca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fin </a:t>
            </a:r>
            <a:r>
              <a:rPr lang="en-US" sz="1600" dirty="0" err="1"/>
              <a:t>último</a:t>
            </a:r>
            <a:r>
              <a:rPr lang="en-US" sz="1600" dirty="0"/>
              <a:t>, </a:t>
            </a:r>
            <a:r>
              <a:rPr lang="en-US" sz="1600" dirty="0" err="1"/>
              <a:t>mientras</a:t>
            </a:r>
            <a:r>
              <a:rPr lang="en-US" sz="1600" dirty="0"/>
              <a:t> que </a:t>
            </a:r>
            <a:r>
              <a:rPr lang="en-US" sz="1600" dirty="0" err="1"/>
              <a:t>los</a:t>
            </a:r>
            <a:r>
              <a:rPr lang="en-US" sz="1600" dirty="0"/>
              <a:t> </a:t>
            </a:r>
            <a:r>
              <a:rPr lang="en-US" sz="1600" dirty="0" err="1"/>
              <a:t>específicos</a:t>
            </a:r>
            <a:r>
              <a:rPr lang="en-US" sz="1600" dirty="0"/>
              <a:t> </a:t>
            </a:r>
            <a:r>
              <a:rPr lang="en-US" sz="1600" dirty="0" err="1"/>
              <a:t>deben</a:t>
            </a:r>
            <a:r>
              <a:rPr lang="en-US" sz="1600" dirty="0"/>
              <a:t> ser </a:t>
            </a:r>
            <a:r>
              <a:rPr lang="en-US" sz="1600" b="1" dirty="0"/>
              <a:t>SMART</a:t>
            </a:r>
            <a:r>
              <a:rPr lang="en-US" sz="1600" dirty="0"/>
              <a:t> (Simples, </a:t>
            </a:r>
            <a:r>
              <a:rPr lang="en-US" sz="1600" dirty="0" err="1"/>
              <a:t>Medibles</a:t>
            </a:r>
            <a:r>
              <a:rPr lang="en-US" sz="1600" dirty="0"/>
              <a:t>, </a:t>
            </a:r>
            <a:r>
              <a:rPr lang="en-US" sz="1600" dirty="0" err="1"/>
              <a:t>Alcanzables</a:t>
            </a:r>
            <a:r>
              <a:rPr lang="en-US" sz="1600" dirty="0"/>
              <a:t>, </a:t>
            </a:r>
            <a:r>
              <a:rPr lang="en-US" sz="1600" dirty="0" err="1"/>
              <a:t>Realistas</a:t>
            </a:r>
            <a:r>
              <a:rPr lang="en-US" sz="1600" dirty="0"/>
              <a:t> y con Tiempo </a:t>
            </a:r>
            <a:r>
              <a:rPr lang="en-US" sz="1600" dirty="0" err="1"/>
              <a:t>definido</a:t>
            </a:r>
            <a:r>
              <a:rPr lang="en-US" sz="1600" dirty="0"/>
              <a:t>).</a:t>
            </a:r>
          </a:p>
          <a:p>
            <a:pPr>
              <a:lnSpc>
                <a:spcPct val="90000"/>
              </a:lnSpc>
            </a:pPr>
            <a:r>
              <a:rPr lang="en-US" sz="1600" b="1" dirty="0" err="1"/>
              <a:t>Resultados</a:t>
            </a:r>
            <a:r>
              <a:rPr lang="en-US" sz="1600" b="1" dirty="0"/>
              <a:t> </a:t>
            </a:r>
            <a:r>
              <a:rPr lang="en-US" sz="1600" b="1" dirty="0" err="1"/>
              <a:t>esperados</a:t>
            </a:r>
            <a:r>
              <a:rPr lang="en-US" sz="1600" b="1" dirty="0"/>
              <a:t> (outputs)</a:t>
            </a:r>
            <a:r>
              <a:rPr lang="en-US" sz="1600" dirty="0"/>
              <a:t>: </a:t>
            </a:r>
            <a:r>
              <a:rPr lang="en-US" sz="1600" dirty="0" err="1"/>
              <a:t>productos</a:t>
            </a:r>
            <a:r>
              <a:rPr lang="en-US" sz="1600" dirty="0"/>
              <a:t> o </a:t>
            </a:r>
            <a:r>
              <a:rPr lang="en-US" sz="1600" dirty="0" err="1"/>
              <a:t>servicios</a:t>
            </a:r>
            <a:r>
              <a:rPr lang="en-US" sz="1600" dirty="0"/>
              <a:t> que </a:t>
            </a:r>
            <a:r>
              <a:rPr lang="en-US" sz="1600" dirty="0" err="1"/>
              <a:t>generará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proyecto</a:t>
            </a:r>
            <a:r>
              <a:rPr lang="en-US" sz="1600" dirty="0"/>
              <a:t>, </a:t>
            </a:r>
            <a:r>
              <a:rPr lang="en-US" sz="1600" dirty="0" err="1"/>
              <a:t>expresados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términos</a:t>
            </a:r>
            <a:r>
              <a:rPr lang="en-US" sz="1600" dirty="0"/>
              <a:t> </a:t>
            </a:r>
            <a:r>
              <a:rPr lang="en-US" sz="1600" dirty="0" err="1"/>
              <a:t>medibles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600" b="1" dirty="0"/>
              <a:t>Población </a:t>
            </a:r>
            <a:r>
              <a:rPr lang="en-US" sz="1600" b="1" dirty="0" err="1"/>
              <a:t>objetivo</a:t>
            </a:r>
            <a:r>
              <a:rPr lang="en-US" sz="1600" dirty="0"/>
              <a:t>: </a:t>
            </a:r>
            <a:r>
              <a:rPr lang="en-US" sz="1600" dirty="0" err="1"/>
              <a:t>descripción</a:t>
            </a:r>
            <a:r>
              <a:rPr lang="en-US" sz="1600" dirty="0"/>
              <a:t> </a:t>
            </a:r>
            <a:r>
              <a:rPr lang="en-US" sz="1600" dirty="0" err="1"/>
              <a:t>clara</a:t>
            </a:r>
            <a:r>
              <a:rPr lang="en-US" sz="1600" dirty="0"/>
              <a:t> de </a:t>
            </a:r>
            <a:r>
              <a:rPr lang="en-US" sz="1600" dirty="0" err="1"/>
              <a:t>los</a:t>
            </a:r>
            <a:r>
              <a:rPr lang="en-US" sz="1600" dirty="0"/>
              <a:t> </a:t>
            </a:r>
            <a:r>
              <a:rPr lang="en-US" sz="1600" dirty="0" err="1"/>
              <a:t>beneficiarios</a:t>
            </a:r>
            <a:r>
              <a:rPr lang="en-US" sz="1600" dirty="0"/>
              <a:t> y sus </a:t>
            </a:r>
            <a:r>
              <a:rPr lang="en-US" sz="1600" dirty="0" err="1"/>
              <a:t>características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600" b="1" dirty="0" err="1"/>
              <a:t>Estrategias</a:t>
            </a:r>
            <a:r>
              <a:rPr lang="en-US" sz="1600" dirty="0"/>
              <a:t>: </a:t>
            </a:r>
            <a:r>
              <a:rPr lang="en-US" sz="1600" dirty="0" err="1"/>
              <a:t>métodos</a:t>
            </a:r>
            <a:r>
              <a:rPr lang="en-US" sz="1600" dirty="0"/>
              <a:t> a </a:t>
            </a:r>
            <a:r>
              <a:rPr lang="en-US" sz="1600" dirty="0" err="1"/>
              <a:t>emplear</a:t>
            </a:r>
            <a:r>
              <a:rPr lang="en-US" sz="1600" dirty="0"/>
              <a:t> para </a:t>
            </a:r>
            <a:r>
              <a:rPr lang="en-US" sz="1600" dirty="0" err="1"/>
              <a:t>alcanzar</a:t>
            </a:r>
            <a:r>
              <a:rPr lang="en-US" sz="1600" dirty="0"/>
              <a:t> </a:t>
            </a:r>
            <a:r>
              <a:rPr lang="en-US" sz="1600" dirty="0" err="1"/>
              <a:t>los</a:t>
            </a:r>
            <a:r>
              <a:rPr lang="en-US" sz="1600" dirty="0"/>
              <a:t> </a:t>
            </a:r>
            <a:r>
              <a:rPr lang="en-US" sz="1600" dirty="0" err="1"/>
              <a:t>objetivos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600" b="1" dirty="0"/>
              <a:t>Plan de </a:t>
            </a:r>
            <a:r>
              <a:rPr lang="en-US" sz="1600" b="1" dirty="0" err="1"/>
              <a:t>implementación</a:t>
            </a:r>
            <a:r>
              <a:rPr lang="en-US" sz="1600" dirty="0"/>
              <a:t>: </a:t>
            </a:r>
            <a:r>
              <a:rPr lang="en-US" sz="1600" dirty="0" err="1"/>
              <a:t>actividades</a:t>
            </a:r>
            <a:r>
              <a:rPr lang="en-US" sz="1600" dirty="0"/>
              <a:t>, </a:t>
            </a:r>
            <a:r>
              <a:rPr lang="en-US" sz="1600" dirty="0" err="1"/>
              <a:t>cronograma</a:t>
            </a:r>
            <a:r>
              <a:rPr lang="en-US" sz="1600" dirty="0"/>
              <a:t> (</a:t>
            </a:r>
            <a:r>
              <a:rPr lang="en-US" sz="1600" dirty="0" err="1"/>
              <a:t>ej</a:t>
            </a:r>
            <a:r>
              <a:rPr lang="en-US" sz="1600" dirty="0"/>
              <a:t>. Gantt) y plan de </a:t>
            </a:r>
            <a:r>
              <a:rPr lang="en-US" sz="1600" dirty="0" err="1"/>
              <a:t>recursos</a:t>
            </a:r>
            <a:r>
              <a:rPr lang="en-US" sz="1600" dirty="0"/>
              <a:t> (</a:t>
            </a:r>
            <a:r>
              <a:rPr lang="en-US" sz="1600" dirty="0" err="1"/>
              <a:t>materiales</a:t>
            </a:r>
            <a:r>
              <a:rPr lang="en-US" sz="1600" dirty="0"/>
              <a:t>, </a:t>
            </a:r>
            <a:r>
              <a:rPr lang="en-US" sz="1600" dirty="0" err="1"/>
              <a:t>humanos</a:t>
            </a:r>
            <a:r>
              <a:rPr lang="en-US" sz="1600" dirty="0"/>
              <a:t>, </a:t>
            </a:r>
            <a:r>
              <a:rPr lang="en-US" sz="1600" dirty="0" err="1"/>
              <a:t>financieros</a:t>
            </a:r>
            <a:r>
              <a:rPr lang="en-US" sz="1600" dirty="0"/>
              <a:t>).</a:t>
            </a:r>
          </a:p>
          <a:p>
            <a:pPr>
              <a:lnSpc>
                <a:spcPct val="90000"/>
              </a:lnSpc>
            </a:pPr>
            <a:r>
              <a:rPr lang="en-US" sz="1600" b="1" dirty="0" err="1"/>
              <a:t>Monitoreo</a:t>
            </a:r>
            <a:r>
              <a:rPr lang="en-US" sz="1600" b="1" dirty="0"/>
              <a:t> y </a:t>
            </a:r>
            <a:r>
              <a:rPr lang="en-US" sz="1600" b="1" dirty="0" err="1"/>
              <a:t>evaluación</a:t>
            </a:r>
            <a:r>
              <a:rPr lang="en-US" sz="1600" dirty="0"/>
              <a:t>: </a:t>
            </a:r>
            <a:r>
              <a:rPr lang="en-US" sz="1600" dirty="0" err="1"/>
              <a:t>mecanismos</a:t>
            </a:r>
            <a:r>
              <a:rPr lang="en-US" sz="1600" dirty="0"/>
              <a:t> para </a:t>
            </a:r>
            <a:r>
              <a:rPr lang="en-US" sz="1600" dirty="0" err="1"/>
              <a:t>dar</a:t>
            </a:r>
            <a:r>
              <a:rPr lang="en-US" sz="1600" dirty="0"/>
              <a:t> </a:t>
            </a:r>
            <a:r>
              <a:rPr lang="en-US" sz="1600" dirty="0" err="1"/>
              <a:t>seguimiento</a:t>
            </a:r>
            <a:r>
              <a:rPr lang="en-US" sz="1600" dirty="0"/>
              <a:t> y </a:t>
            </a:r>
            <a:r>
              <a:rPr lang="en-US" sz="1600" dirty="0" err="1"/>
              <a:t>evaluar</a:t>
            </a:r>
            <a:r>
              <a:rPr lang="en-US" sz="1600" dirty="0"/>
              <a:t> </a:t>
            </a:r>
            <a:r>
              <a:rPr lang="en-US" sz="1600" dirty="0" err="1"/>
              <a:t>los</a:t>
            </a:r>
            <a:r>
              <a:rPr lang="en-US" sz="1600" dirty="0"/>
              <a:t> </a:t>
            </a:r>
            <a:r>
              <a:rPr lang="en-US" sz="1600" dirty="0" err="1"/>
              <a:t>logros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600" b="1" dirty="0" err="1"/>
              <a:t>Informes</a:t>
            </a:r>
            <a:r>
              <a:rPr lang="en-US" sz="1600" dirty="0"/>
              <a:t>: </a:t>
            </a:r>
            <a:r>
              <a:rPr lang="en-US" sz="1600" dirty="0" err="1"/>
              <a:t>periodicidad</a:t>
            </a:r>
            <a:r>
              <a:rPr lang="en-US" sz="1600" dirty="0"/>
              <a:t> y </a:t>
            </a:r>
            <a:r>
              <a:rPr lang="en-US" sz="1600" dirty="0" err="1"/>
              <a:t>formato</a:t>
            </a:r>
            <a:r>
              <a:rPr lang="en-US" sz="1600" dirty="0"/>
              <a:t> de </a:t>
            </a:r>
            <a:r>
              <a:rPr lang="en-US" sz="1600" dirty="0" err="1"/>
              <a:t>los</a:t>
            </a:r>
            <a:r>
              <a:rPr lang="en-US" sz="1600" dirty="0"/>
              <a:t> </a:t>
            </a:r>
            <a:r>
              <a:rPr lang="en-US" sz="1600" dirty="0" err="1"/>
              <a:t>reportes</a:t>
            </a:r>
            <a:r>
              <a:rPr lang="en-US" sz="1600" dirty="0"/>
              <a:t> de </a:t>
            </a:r>
            <a:r>
              <a:rPr lang="en-US" sz="1600" dirty="0" err="1"/>
              <a:t>avance</a:t>
            </a:r>
            <a:r>
              <a:rPr lang="en-US" sz="1600" dirty="0"/>
              <a:t> y finales.</a:t>
            </a:r>
          </a:p>
          <a:p>
            <a:pPr>
              <a:lnSpc>
                <a:spcPct val="90000"/>
              </a:lnSpc>
            </a:pPr>
            <a:r>
              <a:rPr lang="en-US" sz="1600" b="1" dirty="0" err="1"/>
              <a:t>Gestión</a:t>
            </a:r>
            <a:r>
              <a:rPr lang="en-US" sz="1600" b="1" dirty="0"/>
              <a:t> y personal</a:t>
            </a:r>
            <a:r>
              <a:rPr lang="en-US" sz="1600" dirty="0"/>
              <a:t>: </a:t>
            </a:r>
            <a:r>
              <a:rPr lang="en-US" sz="1600" dirty="0" err="1"/>
              <a:t>descripción</a:t>
            </a:r>
            <a:r>
              <a:rPr lang="en-US" sz="1600" dirty="0"/>
              <a:t> de roles, </a:t>
            </a:r>
            <a:r>
              <a:rPr lang="en-US" sz="1600" dirty="0" err="1"/>
              <a:t>expertos</a:t>
            </a:r>
            <a:r>
              <a:rPr lang="en-US" sz="1600" dirty="0"/>
              <a:t> y </a:t>
            </a:r>
            <a:r>
              <a:rPr lang="en-US" sz="1600" dirty="0" err="1"/>
              <a:t>colaboradores</a:t>
            </a:r>
            <a:r>
              <a:rPr lang="en-US" sz="1600" dirty="0"/>
              <a:t> </a:t>
            </a:r>
            <a:r>
              <a:rPr lang="en-US" sz="1600" dirty="0" err="1"/>
              <a:t>involucrados</a:t>
            </a:r>
            <a:r>
              <a:rPr lang="en-US" sz="1600" dirty="0"/>
              <a:t>.</a:t>
            </a:r>
          </a:p>
        </p:txBody>
      </p:sp>
      <p:cxnSp>
        <p:nvCxnSpPr>
          <p:cNvPr id="16395" name="Straight Connector 16394">
            <a:extLst>
              <a:ext uri="{FF2B5EF4-FFF2-40B4-BE49-F238E27FC236}">
                <a16:creationId xmlns:a16="http://schemas.microsoft.com/office/drawing/2014/main" id="{1D2BBFA3-6EA8-1C48-B3A5-DFCC389D2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97" name="Group 16396">
            <a:extLst>
              <a:ext uri="{FF2B5EF4-FFF2-40B4-BE49-F238E27FC236}">
                <a16:creationId xmlns:a16="http://schemas.microsoft.com/office/drawing/2014/main" id="{35B55452-0B37-B747-9C68-70C4EF8F7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16398" name="Freeform 41">
              <a:extLst>
                <a:ext uri="{FF2B5EF4-FFF2-40B4-BE49-F238E27FC236}">
                  <a16:creationId xmlns:a16="http://schemas.microsoft.com/office/drawing/2014/main" id="{CBBA7287-7E9D-884B-93D7-D56B52ADE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399" name="Freeform 42">
              <a:extLst>
                <a:ext uri="{FF2B5EF4-FFF2-40B4-BE49-F238E27FC236}">
                  <a16:creationId xmlns:a16="http://schemas.microsoft.com/office/drawing/2014/main" id="{E09BD6CA-D4FC-1041-9A4A-5BD33DDEDE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400" name="Freeform 43">
              <a:extLst>
                <a:ext uri="{FF2B5EF4-FFF2-40B4-BE49-F238E27FC236}">
                  <a16:creationId xmlns:a16="http://schemas.microsoft.com/office/drawing/2014/main" id="{60AFCEEC-E747-AF48-9591-58C67AF87A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401" name="Freeform 44">
              <a:extLst>
                <a:ext uri="{FF2B5EF4-FFF2-40B4-BE49-F238E27FC236}">
                  <a16:creationId xmlns:a16="http://schemas.microsoft.com/office/drawing/2014/main" id="{2290DF32-70FD-0E48-9258-0BD83EE622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402" name="Freeform 45">
              <a:extLst>
                <a:ext uri="{FF2B5EF4-FFF2-40B4-BE49-F238E27FC236}">
                  <a16:creationId xmlns:a16="http://schemas.microsoft.com/office/drawing/2014/main" id="{61BFE2D7-8646-5943-87D5-C6A9CDF68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403" name="Freeform 46">
              <a:extLst>
                <a:ext uri="{FF2B5EF4-FFF2-40B4-BE49-F238E27FC236}">
                  <a16:creationId xmlns:a16="http://schemas.microsoft.com/office/drawing/2014/main" id="{6FFCD48C-239D-ED44-879B-9E5DD00DE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404" name="Freeform 47">
              <a:extLst>
                <a:ext uri="{FF2B5EF4-FFF2-40B4-BE49-F238E27FC236}">
                  <a16:creationId xmlns:a16="http://schemas.microsoft.com/office/drawing/2014/main" id="{55CCAE64-959A-BC4A-A123-FC9283192D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8123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15" name="Rectangle 17414">
            <a:extLst>
              <a:ext uri="{FF2B5EF4-FFF2-40B4-BE49-F238E27FC236}">
                <a16:creationId xmlns:a16="http://schemas.microsoft.com/office/drawing/2014/main" id="{557B0AD7-E991-E343-BF68-F1188152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410" name="Picture 2" descr="How to Create a Gantt Chart">
            <a:extLst>
              <a:ext uri="{FF2B5EF4-FFF2-40B4-BE49-F238E27FC236}">
                <a16:creationId xmlns:a16="http://schemas.microsoft.com/office/drawing/2014/main" id="{7680EC43-5073-A93B-295E-37D2525E5F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2" r="-1" b="10549"/>
          <a:stretch>
            <a:fillRect/>
          </a:stretch>
        </p:blipFill>
        <p:spPr bwMode="auto">
          <a:xfrm>
            <a:off x="420129" y="235524"/>
            <a:ext cx="11351741" cy="6386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72600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39" name="Rectangle 1843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C01EA8-40EA-F565-DBE6-002BE24D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59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¿y </a:t>
            </a:r>
            <a:r>
              <a:rPr lang="en-US" sz="3100" err="1"/>
              <a:t>después</a:t>
            </a:r>
            <a:r>
              <a:rPr lang="en-US" sz="3100"/>
              <a:t> que….?</a:t>
            </a:r>
            <a:br>
              <a:rPr lang="en-US" sz="3100"/>
            </a:br>
            <a:r>
              <a:rPr lang="en-US" sz="3100" err="1"/>
              <a:t>Sostenibilidad</a:t>
            </a:r>
            <a:r>
              <a:rPr lang="en-US" sz="3100"/>
              <a:t>...</a:t>
            </a:r>
            <a:endParaRPr lang="en-CO" sz="3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6902D-3593-46C7-60D9-34B1797E2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351" y="1828801"/>
            <a:ext cx="4629430" cy="480677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La </a:t>
            </a:r>
            <a:r>
              <a:rPr lang="en-US" sz="1600" dirty="0" err="1"/>
              <a:t>sostenibilidad</a:t>
            </a:r>
            <a:r>
              <a:rPr lang="en-US" sz="1600" dirty="0"/>
              <a:t> de un </a:t>
            </a:r>
            <a:r>
              <a:rPr lang="en-US" sz="1600" dirty="0" err="1"/>
              <a:t>proyecto</a:t>
            </a:r>
            <a:r>
              <a:rPr lang="en-US" sz="1600" dirty="0"/>
              <a:t> es crucial para </a:t>
            </a:r>
            <a:r>
              <a:rPr lang="en-US" sz="1600" dirty="0" err="1"/>
              <a:t>asegurar</a:t>
            </a:r>
            <a:r>
              <a:rPr lang="en-US" sz="1600" dirty="0"/>
              <a:t> que sus </a:t>
            </a:r>
            <a:r>
              <a:rPr lang="en-US" sz="1600" dirty="0" err="1"/>
              <a:t>beneficios</a:t>
            </a:r>
            <a:r>
              <a:rPr lang="en-US" sz="1600" dirty="0"/>
              <a:t> </a:t>
            </a:r>
            <a:r>
              <a:rPr lang="en-US" sz="1600" dirty="0" err="1"/>
              <a:t>perduren</a:t>
            </a:r>
            <a:r>
              <a:rPr lang="en-US" sz="1600" dirty="0"/>
              <a:t> </a:t>
            </a:r>
            <a:r>
              <a:rPr lang="en-US" sz="1600" dirty="0" err="1"/>
              <a:t>una</a:t>
            </a:r>
            <a:r>
              <a:rPr lang="en-US" sz="1600" dirty="0"/>
              <a:t> </a:t>
            </a:r>
            <a:r>
              <a:rPr lang="en-US" sz="1600" dirty="0" err="1"/>
              <a:t>vez</a:t>
            </a:r>
            <a:r>
              <a:rPr lang="en-US" sz="1600" dirty="0"/>
              <a:t> que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financiamiento</a:t>
            </a:r>
            <a:r>
              <a:rPr lang="en-US" sz="1600" dirty="0"/>
              <a:t> ha </a:t>
            </a:r>
            <a:r>
              <a:rPr lang="en-US" sz="1600" dirty="0" err="1"/>
              <a:t>finalizado</a:t>
            </a:r>
            <a:r>
              <a:rPr lang="en-US" sz="1600" dirty="0"/>
              <a:t>. En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apartado</a:t>
            </a:r>
            <a:r>
              <a:rPr lang="en-US" sz="1600" dirty="0"/>
              <a:t>, se </a:t>
            </a:r>
            <a:r>
              <a:rPr lang="en-US" sz="1600" dirty="0" err="1"/>
              <a:t>debe</a:t>
            </a:r>
            <a:r>
              <a:rPr lang="en-US" sz="1600" dirty="0"/>
              <a:t> </a:t>
            </a:r>
            <a:r>
              <a:rPr lang="en-US" sz="1600" dirty="0" err="1"/>
              <a:t>describir</a:t>
            </a:r>
            <a:r>
              <a:rPr lang="en-US" sz="1600" dirty="0"/>
              <a:t> </a:t>
            </a:r>
            <a:r>
              <a:rPr lang="en-US" sz="1600" dirty="0" err="1"/>
              <a:t>cómo</a:t>
            </a:r>
            <a:r>
              <a:rPr lang="en-US" sz="1600" dirty="0"/>
              <a:t> las </a:t>
            </a:r>
            <a:r>
              <a:rPr lang="en-US" sz="1600" dirty="0" err="1"/>
              <a:t>actividades</a:t>
            </a:r>
            <a:r>
              <a:rPr lang="en-US" sz="1600" dirty="0"/>
              <a:t> clave </a:t>
            </a:r>
            <a:r>
              <a:rPr lang="en-US" sz="1600" dirty="0" err="1"/>
              <a:t>continuarán</a:t>
            </a:r>
            <a:r>
              <a:rPr lang="en-US" sz="1600" dirty="0"/>
              <a:t> sin </a:t>
            </a:r>
            <a:r>
              <a:rPr lang="en-US" sz="1600" dirty="0" err="1"/>
              <a:t>apoyo</a:t>
            </a:r>
            <a:r>
              <a:rPr lang="en-US" sz="1600" dirty="0"/>
              <a:t> </a:t>
            </a:r>
            <a:r>
              <a:rPr lang="en-US" sz="1600" dirty="0" err="1"/>
              <a:t>financiero</a:t>
            </a:r>
            <a:r>
              <a:rPr lang="en-US" sz="1600" dirty="0"/>
              <a:t> </a:t>
            </a:r>
            <a:r>
              <a:rPr lang="en-US" sz="1600" dirty="0" err="1"/>
              <a:t>adicional</a:t>
            </a:r>
            <a:r>
              <a:rPr lang="en-US" sz="1600" dirty="0"/>
              <a:t>, </a:t>
            </a:r>
            <a:r>
              <a:rPr lang="en-US" sz="1600" dirty="0" err="1"/>
              <a:t>explicando</a:t>
            </a:r>
            <a:r>
              <a:rPr lang="en-US" sz="1600" dirty="0"/>
              <a:t> </a:t>
            </a:r>
            <a:r>
              <a:rPr lang="en-US" sz="1600" dirty="0" err="1"/>
              <a:t>qué</a:t>
            </a:r>
            <a:r>
              <a:rPr lang="en-US" sz="1600" dirty="0"/>
              <a:t> </a:t>
            </a:r>
            <a:r>
              <a:rPr lang="en-US" sz="1600" dirty="0" err="1"/>
              <a:t>mecanismos</a:t>
            </a:r>
            <a:r>
              <a:rPr lang="en-US" sz="1600" dirty="0"/>
              <a:t> se </a:t>
            </a:r>
            <a:r>
              <a:rPr lang="en-US" sz="1600" dirty="0" err="1"/>
              <a:t>implementarán</a:t>
            </a:r>
            <a:r>
              <a:rPr lang="en-US" sz="1600" dirty="0"/>
              <a:t> para </a:t>
            </a:r>
            <a:r>
              <a:rPr lang="en-US" sz="1600" dirty="0" err="1"/>
              <a:t>garantizar</a:t>
            </a:r>
            <a:r>
              <a:rPr lang="en-US" sz="1600" dirty="0"/>
              <a:t> que </a:t>
            </a:r>
            <a:r>
              <a:rPr lang="en-US" sz="1600" dirty="0" err="1"/>
              <a:t>los</a:t>
            </a:r>
            <a:r>
              <a:rPr lang="en-US" sz="1600" dirty="0"/>
              <a:t> </a:t>
            </a:r>
            <a:r>
              <a:rPr lang="en-US" sz="1600" dirty="0" err="1"/>
              <a:t>resultados</a:t>
            </a:r>
            <a:r>
              <a:rPr lang="en-US" sz="1600" dirty="0"/>
              <a:t> se </a:t>
            </a:r>
            <a:r>
              <a:rPr lang="en-US" sz="1600" dirty="0" err="1"/>
              <a:t>mantengan</a:t>
            </a:r>
            <a:r>
              <a:rPr lang="en-US" sz="1600" dirty="0"/>
              <a:t> a largo </a:t>
            </a:r>
            <a:r>
              <a:rPr lang="en-US" sz="1600" dirty="0" err="1"/>
              <a:t>plazo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Es fundamental </a:t>
            </a:r>
            <a:r>
              <a:rPr lang="en-US" sz="1600" dirty="0" err="1"/>
              <a:t>identificar</a:t>
            </a:r>
            <a:r>
              <a:rPr lang="en-US" sz="1600" dirty="0"/>
              <a:t> </a:t>
            </a:r>
            <a:r>
              <a:rPr lang="en-US" sz="1600" dirty="0" err="1"/>
              <a:t>los</a:t>
            </a:r>
            <a:r>
              <a:rPr lang="en-US" sz="1600" dirty="0"/>
              <a:t> roles de </a:t>
            </a:r>
            <a:r>
              <a:rPr lang="en-US" sz="1600" dirty="0" err="1"/>
              <a:t>los</a:t>
            </a:r>
            <a:r>
              <a:rPr lang="en-US" sz="1600" dirty="0"/>
              <a:t> </a:t>
            </a:r>
            <a:r>
              <a:rPr lang="en-US" sz="1600" dirty="0" err="1"/>
              <a:t>actores</a:t>
            </a:r>
            <a:r>
              <a:rPr lang="en-US" sz="1600" dirty="0"/>
              <a:t>, tanto </a:t>
            </a:r>
            <a:r>
              <a:rPr lang="en-US" sz="1600" dirty="0" err="1"/>
              <a:t>socios</a:t>
            </a:r>
            <a:r>
              <a:rPr lang="en-US" sz="1600" dirty="0"/>
              <a:t> </a:t>
            </a:r>
            <a:r>
              <a:rPr lang="en-US" sz="1600" dirty="0" err="1"/>
              <a:t>como</a:t>
            </a:r>
            <a:r>
              <a:rPr lang="en-US" sz="1600" dirty="0"/>
              <a:t> </a:t>
            </a:r>
            <a:r>
              <a:rPr lang="en-US" sz="1600" dirty="0" err="1"/>
              <a:t>miembros</a:t>
            </a:r>
            <a:r>
              <a:rPr lang="en-US" sz="1600" dirty="0"/>
              <a:t> de la </a:t>
            </a:r>
            <a:r>
              <a:rPr lang="en-US" sz="1600" dirty="0" err="1"/>
              <a:t>comunidad</a:t>
            </a:r>
            <a:r>
              <a:rPr lang="en-US" sz="1600" dirty="0"/>
              <a:t>, que </a:t>
            </a:r>
            <a:r>
              <a:rPr lang="en-US" sz="1600" dirty="0" err="1"/>
              <a:t>serán</a:t>
            </a:r>
            <a:r>
              <a:rPr lang="en-US" sz="1600" dirty="0"/>
              <a:t> </a:t>
            </a:r>
            <a:r>
              <a:rPr lang="en-US" sz="1600" dirty="0" err="1"/>
              <a:t>responsables</a:t>
            </a:r>
            <a:r>
              <a:rPr lang="en-US" sz="1600" dirty="0"/>
              <a:t> de </a:t>
            </a:r>
            <a:r>
              <a:rPr lang="en-US" sz="1600" dirty="0" err="1"/>
              <a:t>continuar</a:t>
            </a:r>
            <a:r>
              <a:rPr lang="en-US" sz="1600" dirty="0"/>
              <a:t> las </a:t>
            </a:r>
            <a:r>
              <a:rPr lang="en-US" sz="1600" dirty="0" err="1"/>
              <a:t>actividades</a:t>
            </a:r>
            <a:r>
              <a:rPr lang="en-US" sz="1600" dirty="0"/>
              <a:t>, </a:t>
            </a:r>
            <a:r>
              <a:rPr lang="en-US" sz="1600" dirty="0" err="1"/>
              <a:t>aportando</a:t>
            </a:r>
            <a:r>
              <a:rPr lang="en-US" sz="1600" dirty="0"/>
              <a:t> </a:t>
            </a:r>
            <a:r>
              <a:rPr lang="en-US" sz="1600" dirty="0" err="1"/>
              <a:t>recursos</a:t>
            </a:r>
            <a:r>
              <a:rPr lang="en-US" sz="1600" dirty="0"/>
              <a:t> o </a:t>
            </a:r>
            <a:r>
              <a:rPr lang="en-US" sz="1600" dirty="0" err="1"/>
              <a:t>liderazgo</a:t>
            </a:r>
            <a:r>
              <a:rPr lang="en-US" sz="1600" dirty="0"/>
              <a:t> para </a:t>
            </a:r>
            <a:r>
              <a:rPr lang="en-US" sz="1600" dirty="0" err="1"/>
              <a:t>mantener</a:t>
            </a:r>
            <a:r>
              <a:rPr lang="en-US" sz="1600" dirty="0"/>
              <a:t> la </a:t>
            </a:r>
            <a:r>
              <a:rPr lang="en-US" sz="1600" dirty="0" err="1"/>
              <a:t>operatividad</a:t>
            </a:r>
            <a:r>
              <a:rPr lang="en-US" sz="1600" dirty="0"/>
              <a:t> del </a:t>
            </a:r>
            <a:r>
              <a:rPr lang="en-US" sz="1600" dirty="0" err="1"/>
              <a:t>proyecto</a:t>
            </a:r>
            <a:r>
              <a:rPr lang="en-US" sz="16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600" dirty="0" err="1"/>
              <a:t>Asimismo</a:t>
            </a:r>
            <a:r>
              <a:rPr lang="en-US" sz="1600" dirty="0"/>
              <a:t>, se </a:t>
            </a:r>
            <a:r>
              <a:rPr lang="en-US" sz="1600" dirty="0" err="1"/>
              <a:t>puede</a:t>
            </a:r>
            <a:r>
              <a:rPr lang="en-US" sz="1600" dirty="0"/>
              <a:t> </a:t>
            </a:r>
            <a:r>
              <a:rPr lang="en-US" sz="1600" dirty="0" err="1"/>
              <a:t>hacer</a:t>
            </a:r>
            <a:r>
              <a:rPr lang="en-US" sz="1600" dirty="0"/>
              <a:t> </a:t>
            </a:r>
            <a:r>
              <a:rPr lang="en-US" sz="1600" dirty="0" err="1"/>
              <a:t>referencia</a:t>
            </a:r>
            <a:r>
              <a:rPr lang="en-US" sz="1600" dirty="0"/>
              <a:t> a </a:t>
            </a:r>
            <a:r>
              <a:rPr lang="en-US" sz="1600" dirty="0" err="1"/>
              <a:t>otros</a:t>
            </a:r>
            <a:r>
              <a:rPr lang="en-US" sz="1600" dirty="0"/>
              <a:t> </a:t>
            </a:r>
            <a:r>
              <a:rPr lang="en-US" sz="1600" dirty="0" err="1"/>
              <a:t>proyectos</a:t>
            </a:r>
            <a:r>
              <a:rPr lang="en-US" sz="1600" dirty="0"/>
              <a:t> </a:t>
            </a:r>
            <a:r>
              <a:rPr lang="en-US" sz="1600" dirty="0" err="1"/>
              <a:t>similares</a:t>
            </a:r>
            <a:r>
              <a:rPr lang="en-US" sz="1600" dirty="0"/>
              <a:t> que </a:t>
            </a:r>
            <a:r>
              <a:rPr lang="en-US" sz="1600" dirty="0" err="1"/>
              <a:t>hayan</a:t>
            </a:r>
            <a:r>
              <a:rPr lang="en-US" sz="1600" dirty="0"/>
              <a:t> </a:t>
            </a:r>
            <a:r>
              <a:rPr lang="en-US" sz="1600" dirty="0" err="1"/>
              <a:t>sido</a:t>
            </a:r>
            <a:r>
              <a:rPr lang="en-US" sz="1600" dirty="0"/>
              <a:t> </a:t>
            </a:r>
            <a:r>
              <a:rPr lang="en-US" sz="1600" dirty="0" err="1"/>
              <a:t>implementados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diferentes</a:t>
            </a:r>
            <a:r>
              <a:rPr lang="en-US" sz="1600" dirty="0"/>
              <a:t> regiones, y </a:t>
            </a:r>
            <a:r>
              <a:rPr lang="en-US" sz="1600" dirty="0" err="1"/>
              <a:t>cómo</a:t>
            </a:r>
            <a:r>
              <a:rPr lang="en-US" sz="1600" dirty="0"/>
              <a:t> </a:t>
            </a:r>
            <a:r>
              <a:rPr lang="en-US" sz="1600" dirty="0" err="1"/>
              <a:t>esos</a:t>
            </a:r>
            <a:r>
              <a:rPr lang="en-US" sz="1600" dirty="0"/>
              <a:t> </a:t>
            </a:r>
            <a:r>
              <a:rPr lang="en-US" sz="1600" dirty="0" err="1"/>
              <a:t>ejemplos</a:t>
            </a:r>
            <a:r>
              <a:rPr lang="en-US" sz="1600" dirty="0"/>
              <a:t> de </a:t>
            </a:r>
            <a:r>
              <a:rPr lang="en-US" sz="1600" dirty="0" err="1"/>
              <a:t>éxito</a:t>
            </a:r>
            <a:r>
              <a:rPr lang="en-US" sz="1600" dirty="0"/>
              <a:t> </a:t>
            </a:r>
            <a:r>
              <a:rPr lang="en-US" sz="1600" dirty="0" err="1"/>
              <a:t>refuerzan</a:t>
            </a:r>
            <a:r>
              <a:rPr lang="en-US" sz="1600" dirty="0"/>
              <a:t> la </a:t>
            </a:r>
            <a:r>
              <a:rPr lang="en-US" sz="1600" dirty="0" err="1"/>
              <a:t>probabilidad</a:t>
            </a:r>
            <a:r>
              <a:rPr lang="en-US" sz="1600" dirty="0"/>
              <a:t> de que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proyecto</a:t>
            </a:r>
            <a:r>
              <a:rPr lang="en-US" sz="1600" dirty="0"/>
              <a:t> </a:t>
            </a:r>
            <a:r>
              <a:rPr lang="en-US" sz="1600" dirty="0" err="1"/>
              <a:t>propuesto</a:t>
            </a:r>
            <a:r>
              <a:rPr lang="en-US" sz="1600" dirty="0"/>
              <a:t> también sea </a:t>
            </a:r>
            <a:r>
              <a:rPr lang="en-US" sz="1600" dirty="0" err="1"/>
              <a:t>sostenible</a:t>
            </a:r>
            <a:r>
              <a:rPr lang="en-US" sz="1600" dirty="0"/>
              <a:t> a largo </a:t>
            </a:r>
            <a:r>
              <a:rPr lang="en-US" sz="1600" dirty="0" err="1"/>
              <a:t>plazo</a:t>
            </a:r>
            <a:r>
              <a:rPr lang="en-US" sz="1600" dirty="0"/>
              <a:t>. Esto </a:t>
            </a:r>
            <a:r>
              <a:rPr lang="en-US" sz="1600" dirty="0" err="1"/>
              <a:t>brinda</a:t>
            </a:r>
            <a:r>
              <a:rPr lang="en-US" sz="1600" dirty="0"/>
              <a:t> mayor </a:t>
            </a:r>
            <a:r>
              <a:rPr lang="en-US" sz="1600" dirty="0" err="1"/>
              <a:t>confianza</a:t>
            </a:r>
            <a:r>
              <a:rPr lang="en-US" sz="1600" dirty="0"/>
              <a:t> a </a:t>
            </a:r>
            <a:r>
              <a:rPr lang="en-US" sz="1600" dirty="0" err="1"/>
              <a:t>los</a:t>
            </a:r>
            <a:r>
              <a:rPr lang="en-US" sz="1600" dirty="0"/>
              <a:t> </a:t>
            </a:r>
            <a:r>
              <a:rPr lang="en-US" sz="1600" dirty="0" err="1"/>
              <a:t>financiadores</a:t>
            </a:r>
            <a:r>
              <a:rPr lang="en-US" sz="1600" dirty="0"/>
              <a:t> y </a:t>
            </a:r>
            <a:r>
              <a:rPr lang="en-US" sz="1600" dirty="0" err="1"/>
              <a:t>otros</a:t>
            </a:r>
            <a:r>
              <a:rPr lang="en-US" sz="1600" dirty="0"/>
              <a:t> </a:t>
            </a:r>
            <a:r>
              <a:rPr lang="en-US" sz="1600" dirty="0" err="1"/>
              <a:t>interesados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la </a:t>
            </a:r>
            <a:r>
              <a:rPr lang="en-US" sz="1600" dirty="0" err="1"/>
              <a:t>viabilidad</a:t>
            </a:r>
            <a:r>
              <a:rPr lang="en-US" sz="1600" dirty="0"/>
              <a:t> del </a:t>
            </a:r>
            <a:r>
              <a:rPr lang="en-US" sz="1600" dirty="0" err="1"/>
              <a:t>proyecto</a:t>
            </a:r>
            <a:r>
              <a:rPr lang="en-US" sz="1600" dirty="0"/>
              <a:t> </a:t>
            </a:r>
            <a:r>
              <a:rPr lang="en-US" sz="1600" dirty="0" err="1"/>
              <a:t>más</a:t>
            </a:r>
            <a:r>
              <a:rPr lang="en-US" sz="1600" dirty="0"/>
              <a:t> </a:t>
            </a:r>
            <a:r>
              <a:rPr lang="en-US" sz="1600" dirty="0" err="1"/>
              <a:t>allá</a:t>
            </a:r>
            <a:r>
              <a:rPr lang="en-US" sz="1600" dirty="0"/>
              <a:t> de la </a:t>
            </a:r>
            <a:r>
              <a:rPr lang="en-US" sz="1600" dirty="0" err="1"/>
              <a:t>fase</a:t>
            </a:r>
            <a:r>
              <a:rPr lang="en-US" sz="1600" dirty="0"/>
              <a:t> de </a:t>
            </a:r>
            <a:r>
              <a:rPr lang="en-US" sz="1600" dirty="0" err="1"/>
              <a:t>financiamiento</a:t>
            </a:r>
            <a:r>
              <a:rPr lang="en-US" sz="1600" dirty="0"/>
              <a:t>.</a:t>
            </a:r>
          </a:p>
        </p:txBody>
      </p:sp>
      <p:grpSp>
        <p:nvGrpSpPr>
          <p:cNvPr id="18441" name="Group 18440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8442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443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444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445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8447" name="Straight Connector 18446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34" name="Picture 2" descr="Sustainability in Project Management | IPM">
            <a:extLst>
              <a:ext uri="{FF2B5EF4-FFF2-40B4-BE49-F238E27FC236}">
                <a16:creationId xmlns:a16="http://schemas.microsoft.com/office/drawing/2014/main" id="{A4EA8697-2924-8E14-A18D-1E8F635E9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8177" y="973361"/>
            <a:ext cx="7088472" cy="4911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2943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463" name="Rectangle 19462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60ADED-372B-BAB0-8A46-066F339D5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60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Ejercicio</a:t>
            </a:r>
            <a:r>
              <a:rPr lang="en-US" dirty="0"/>
              <a:t> </a:t>
            </a:r>
            <a:r>
              <a:rPr lang="en-US" dirty="0" err="1"/>
              <a:t>práctico</a:t>
            </a:r>
            <a:r>
              <a:rPr lang="en-US" dirty="0"/>
              <a:t>...</a:t>
            </a:r>
            <a:endParaRPr lang="en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FE545-9B1B-C9A4-77DC-81DBE6FD8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4133560" cy="36012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err="1"/>
              <a:t>Pongamos</a:t>
            </a:r>
            <a:r>
              <a:rPr lang="en-US" sz="1500"/>
              <a:t> a </a:t>
            </a:r>
            <a:r>
              <a:rPr lang="en-US" sz="1500" err="1"/>
              <a:t>prueba</a:t>
            </a:r>
            <a:r>
              <a:rPr lang="en-US" sz="1500"/>
              <a:t> lo visto…</a:t>
            </a:r>
          </a:p>
          <a:p>
            <a:pPr>
              <a:lnSpc>
                <a:spcPct val="90000"/>
              </a:lnSpc>
            </a:pPr>
            <a:r>
              <a:rPr lang="en-US" sz="1500" err="1"/>
              <a:t>Actividad</a:t>
            </a:r>
            <a:r>
              <a:rPr lang="en-US" sz="1500"/>
              <a:t> </a:t>
            </a:r>
            <a:r>
              <a:rPr lang="en-US" sz="1500" err="1"/>
              <a:t>Colaborativa</a:t>
            </a:r>
            <a:r>
              <a:rPr lang="en-US" sz="1500"/>
              <a:t>: Laboratorio de </a:t>
            </a:r>
            <a:r>
              <a:rPr lang="en-US" sz="1500" err="1"/>
              <a:t>Innovación</a:t>
            </a:r>
            <a:r>
              <a:rPr lang="en-US" sz="1500"/>
              <a:t> de </a:t>
            </a:r>
            <a:r>
              <a:rPr lang="en-US" sz="1500" err="1"/>
              <a:t>Proyectos</a:t>
            </a:r>
            <a:endParaRPr lang="en-US" sz="1500"/>
          </a:p>
          <a:p>
            <a:pPr>
              <a:lnSpc>
                <a:spcPct val="90000"/>
              </a:lnSpc>
            </a:pPr>
            <a:r>
              <a:rPr lang="en-US" sz="1500" b="1" err="1"/>
              <a:t>Objetivo</a:t>
            </a:r>
            <a:r>
              <a:rPr lang="en-US" sz="1500" b="1"/>
              <a:t> de la </a:t>
            </a:r>
            <a:r>
              <a:rPr lang="en-US" sz="1500" b="1" err="1"/>
              <a:t>Actividad</a:t>
            </a:r>
            <a:endParaRPr lang="en-US" sz="1500" b="1"/>
          </a:p>
          <a:p>
            <a:pPr lvl="1">
              <a:lnSpc>
                <a:spcPct val="90000"/>
              </a:lnSpc>
            </a:pPr>
            <a:r>
              <a:rPr lang="en-US" sz="1500" err="1"/>
              <a:t>Aplicar</a:t>
            </a:r>
            <a:r>
              <a:rPr lang="en-US" sz="1500"/>
              <a:t> las </a:t>
            </a:r>
            <a:r>
              <a:rPr lang="en-US" sz="1500" err="1"/>
              <a:t>metodologías</a:t>
            </a:r>
            <a:r>
              <a:rPr lang="en-US" sz="1500"/>
              <a:t> </a:t>
            </a:r>
            <a:r>
              <a:rPr lang="en-US" sz="1500" err="1"/>
              <a:t>aprendidas</a:t>
            </a:r>
            <a:r>
              <a:rPr lang="en-US" sz="1500"/>
              <a:t> para </a:t>
            </a:r>
            <a:r>
              <a:rPr lang="en-US" sz="1500" err="1"/>
              <a:t>diseñar</a:t>
            </a:r>
            <a:r>
              <a:rPr lang="en-US" sz="1500"/>
              <a:t> un Proyecto </a:t>
            </a:r>
            <a:r>
              <a:rPr lang="en-US" sz="1500" err="1"/>
              <a:t>científico</a:t>
            </a:r>
            <a:r>
              <a:rPr lang="en-US" sz="1500"/>
              <a:t> </a:t>
            </a:r>
            <a:r>
              <a:rPr lang="en-US" sz="1500" err="1"/>
              <a:t>innovador</a:t>
            </a:r>
            <a:r>
              <a:rPr lang="en-US" sz="1500"/>
              <a:t>, </a:t>
            </a:r>
            <a:r>
              <a:rPr lang="en-US" sz="1500" err="1"/>
              <a:t>fomentando</a:t>
            </a:r>
            <a:r>
              <a:rPr lang="en-US" sz="1500"/>
              <a:t> la </a:t>
            </a:r>
            <a:r>
              <a:rPr lang="en-US" sz="1500" err="1"/>
              <a:t>creatividad</a:t>
            </a:r>
            <a:r>
              <a:rPr lang="en-US" sz="1500"/>
              <a:t>, la </a:t>
            </a:r>
            <a:r>
              <a:rPr lang="en-US" sz="1500" err="1"/>
              <a:t>colaboración</a:t>
            </a:r>
            <a:r>
              <a:rPr lang="en-US" sz="1500"/>
              <a:t> y la </a:t>
            </a:r>
            <a:r>
              <a:rPr lang="en-US" sz="1500" err="1"/>
              <a:t>aplicación</a:t>
            </a:r>
            <a:r>
              <a:rPr lang="en-US" sz="1500"/>
              <a:t> </a:t>
            </a:r>
            <a:r>
              <a:rPr lang="en-US" sz="1500" err="1"/>
              <a:t>práctica</a:t>
            </a:r>
            <a:r>
              <a:rPr lang="en-US" sz="1500"/>
              <a:t> de </a:t>
            </a:r>
            <a:r>
              <a:rPr lang="en-US" sz="1500" err="1"/>
              <a:t>los</a:t>
            </a:r>
            <a:r>
              <a:rPr lang="en-US" sz="1500"/>
              <a:t> </a:t>
            </a:r>
            <a:r>
              <a:rPr lang="en-US" sz="1500" err="1"/>
              <a:t>conceptos</a:t>
            </a:r>
            <a:r>
              <a:rPr lang="en-US" sz="1500"/>
              <a:t> de </a:t>
            </a:r>
            <a:r>
              <a:rPr lang="en-US" sz="1500" err="1"/>
              <a:t>formulación</a:t>
            </a:r>
            <a:r>
              <a:rPr lang="en-US" sz="1500"/>
              <a:t> de </a:t>
            </a:r>
            <a:r>
              <a:rPr lang="en-US" sz="1500" err="1"/>
              <a:t>proyectos</a:t>
            </a:r>
            <a:r>
              <a:rPr lang="en-US" sz="1500"/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CO" sz="1500"/>
          </a:p>
        </p:txBody>
      </p:sp>
      <p:cxnSp>
        <p:nvCxnSpPr>
          <p:cNvPr id="19465" name="Straight Connector 19464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58" name="Picture 2" descr="6 – Practice Activity | UAMS Interprofessional Education">
            <a:extLst>
              <a:ext uri="{FF2B5EF4-FFF2-40B4-BE49-F238E27FC236}">
                <a16:creationId xmlns:a16="http://schemas.microsoft.com/office/drawing/2014/main" id="{772346AD-00E5-2532-5956-2E243965E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6" r="-3" b="8809"/>
          <a:stretch>
            <a:fillRect/>
          </a:stretch>
        </p:blipFill>
        <p:spPr bwMode="auto">
          <a:xfrm>
            <a:off x="5263860" y="681645"/>
            <a:ext cx="6273249" cy="548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467" name="Group 19466">
            <a:extLst>
              <a:ext uri="{FF2B5EF4-FFF2-40B4-BE49-F238E27FC236}">
                <a16:creationId xmlns:a16="http://schemas.microsoft.com/office/drawing/2014/main" id="{0D40C408-1C95-CC45-87A7-61CE8B1F9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9468" name="Freeform 22">
              <a:extLst>
                <a:ext uri="{FF2B5EF4-FFF2-40B4-BE49-F238E27FC236}">
                  <a16:creationId xmlns:a16="http://schemas.microsoft.com/office/drawing/2014/main" id="{064C34AA-742A-4849-8CD3-EBD627656C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469" name="Freeform 24">
              <a:extLst>
                <a:ext uri="{FF2B5EF4-FFF2-40B4-BE49-F238E27FC236}">
                  <a16:creationId xmlns:a16="http://schemas.microsoft.com/office/drawing/2014/main" id="{EC6ED33D-9A7B-5247-BA45-456AE5F3B4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470" name="Freeform 26">
              <a:extLst>
                <a:ext uri="{FF2B5EF4-FFF2-40B4-BE49-F238E27FC236}">
                  <a16:creationId xmlns:a16="http://schemas.microsoft.com/office/drawing/2014/main" id="{143DF02F-6797-8A48-8141-360A16A5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471" name="Freeform 27">
              <a:extLst>
                <a:ext uri="{FF2B5EF4-FFF2-40B4-BE49-F238E27FC236}">
                  <a16:creationId xmlns:a16="http://schemas.microsoft.com/office/drawing/2014/main" id="{FDD14875-9EDB-984E-9EDE-3C3A422D9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64375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hark underwater">
            <a:extLst>
              <a:ext uri="{FF2B5EF4-FFF2-40B4-BE49-F238E27FC236}">
                <a16:creationId xmlns:a16="http://schemas.microsoft.com/office/drawing/2014/main" id="{B44EABA1-2578-6677-EE30-DE55217514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846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39" name="Rectangle">
            <a:extLst>
              <a:ext uri="{FF2B5EF4-FFF2-40B4-BE49-F238E27FC236}">
                <a16:creationId xmlns:a16="http://schemas.microsoft.com/office/drawing/2014/main" id="{B4F75AE3-A3AC-DE4C-98FE-EC9DC3BF8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5267217" cy="6858000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4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92FBA4-F390-1F68-4C72-2C057CE75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8334"/>
            <a:ext cx="4134538" cy="286640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8900" dirty="0"/>
              <a:t>Shark Tank: </a:t>
            </a:r>
            <a:br>
              <a:rPr lang="en-US" sz="4600" dirty="0"/>
            </a:br>
            <a:br>
              <a:rPr lang="en-US" sz="4600" dirty="0"/>
            </a:br>
            <a:r>
              <a:rPr lang="en-US" dirty="0" err="1"/>
              <a:t>Edición</a:t>
            </a:r>
            <a:r>
              <a:rPr lang="en-US" dirty="0"/>
              <a:t> especial </a:t>
            </a:r>
            <a:r>
              <a:rPr lang="en-US" dirty="0" err="1"/>
              <a:t>intergaláctico</a:t>
            </a:r>
            <a:endParaRPr lang="en-US" sz="4600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C79BB7-CCAB-2243-9830-5569626C4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8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406D7A-DB1A-D940-8AD1-93FAF9DD7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44" name="Freeform 40">
              <a:extLst>
                <a:ext uri="{FF2B5EF4-FFF2-40B4-BE49-F238E27FC236}">
                  <a16:creationId xmlns:a16="http://schemas.microsoft.com/office/drawing/2014/main" id="{D0F85DF7-431B-BE45-B932-0E22FC3F8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 41">
              <a:extLst>
                <a:ext uri="{FF2B5EF4-FFF2-40B4-BE49-F238E27FC236}">
                  <a16:creationId xmlns:a16="http://schemas.microsoft.com/office/drawing/2014/main" id="{BEA0AA89-2965-2A44-B84E-51C748B2D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2">
              <a:extLst>
                <a:ext uri="{FF2B5EF4-FFF2-40B4-BE49-F238E27FC236}">
                  <a16:creationId xmlns:a16="http://schemas.microsoft.com/office/drawing/2014/main" id="{7EC47259-887A-FD48-989C-42BC5A3C9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3">
              <a:extLst>
                <a:ext uri="{FF2B5EF4-FFF2-40B4-BE49-F238E27FC236}">
                  <a16:creationId xmlns:a16="http://schemas.microsoft.com/office/drawing/2014/main" id="{16E261C3-18BE-934F-8A2B-59BE70AE2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4">
              <a:extLst>
                <a:ext uri="{FF2B5EF4-FFF2-40B4-BE49-F238E27FC236}">
                  <a16:creationId xmlns:a16="http://schemas.microsoft.com/office/drawing/2014/main" id="{35A2267B-0862-A24E-87D2-6CE5187CF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5">
              <a:extLst>
                <a:ext uri="{FF2B5EF4-FFF2-40B4-BE49-F238E27FC236}">
                  <a16:creationId xmlns:a16="http://schemas.microsoft.com/office/drawing/2014/main" id="{A404A0DE-A076-8C4E-B8D4-EBC945337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53">
              <a:extLst>
                <a:ext uri="{FF2B5EF4-FFF2-40B4-BE49-F238E27FC236}">
                  <a16:creationId xmlns:a16="http://schemas.microsoft.com/office/drawing/2014/main" id="{9EED6D73-C275-3347-BB66-C83964257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20486" name="Picture 6" descr="Shark Tank Folder Icon V1 by poxabia on DeviantArt">
            <a:extLst>
              <a:ext uri="{FF2B5EF4-FFF2-40B4-BE49-F238E27FC236}">
                <a16:creationId xmlns:a16="http://schemas.microsoft.com/office/drawing/2014/main" id="{BE5CD4A0-768A-DB26-D462-4CB819F0C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8747" y="3996038"/>
            <a:ext cx="2861961" cy="2861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0431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13" name="Group 21512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21514" name="Oval 21513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15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16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17" name="Oval 21516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18" name="Oval 21517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19" name="Oval 21518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20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21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22" name="Oval 21521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23" name="Oval 21522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24" name="Oval 21523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25" name="Oval 21524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26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27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28" name="Oval 21527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29" name="Oval 21528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30" name="Oval 21529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31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32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33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34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35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36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37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1539" name="Straight Connector 21538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541" name="Rectangle 21540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508" name="Picture 4" descr="WALL-E (2008) - Climate in Arts and History">
            <a:extLst>
              <a:ext uri="{FF2B5EF4-FFF2-40B4-BE49-F238E27FC236}">
                <a16:creationId xmlns:a16="http://schemas.microsoft.com/office/drawing/2014/main" id="{89252B95-8927-8476-FBE9-DCA33B8A27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778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43" name="Rectangle">
            <a:extLst>
              <a:ext uri="{FF2B5EF4-FFF2-40B4-BE49-F238E27FC236}">
                <a16:creationId xmlns:a16="http://schemas.microsoft.com/office/drawing/2014/main" id="{B4F75AE3-A3AC-DE4C-98FE-EC9DC3BF8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5267217" cy="6858000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4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615B96-9C30-8D73-9BF4-7CD51B93B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8335"/>
            <a:ext cx="4134538" cy="11658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Wall-E (2008)</a:t>
            </a:r>
            <a:endParaRPr lang="en-US" sz="5400" dirty="0"/>
          </a:p>
        </p:txBody>
      </p:sp>
      <p:cxnSp>
        <p:nvCxnSpPr>
          <p:cNvPr id="21545" name="Straight Connector 21544">
            <a:extLst>
              <a:ext uri="{FF2B5EF4-FFF2-40B4-BE49-F238E27FC236}">
                <a16:creationId xmlns:a16="http://schemas.microsoft.com/office/drawing/2014/main" id="{41C79BB7-CCAB-2243-9830-5569626C4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8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47" name="Group 21546">
            <a:extLst>
              <a:ext uri="{FF2B5EF4-FFF2-40B4-BE49-F238E27FC236}">
                <a16:creationId xmlns:a16="http://schemas.microsoft.com/office/drawing/2014/main" id="{44406D7A-DB1A-D940-8AD1-93FAF9DD7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21548" name="Freeform 40">
              <a:extLst>
                <a:ext uri="{FF2B5EF4-FFF2-40B4-BE49-F238E27FC236}">
                  <a16:creationId xmlns:a16="http://schemas.microsoft.com/office/drawing/2014/main" id="{D0F85DF7-431B-BE45-B932-0E22FC3F8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49" name="Freeform 41">
              <a:extLst>
                <a:ext uri="{FF2B5EF4-FFF2-40B4-BE49-F238E27FC236}">
                  <a16:creationId xmlns:a16="http://schemas.microsoft.com/office/drawing/2014/main" id="{BEA0AA89-2965-2A44-B84E-51C748B2D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50" name="Freeform 42">
              <a:extLst>
                <a:ext uri="{FF2B5EF4-FFF2-40B4-BE49-F238E27FC236}">
                  <a16:creationId xmlns:a16="http://schemas.microsoft.com/office/drawing/2014/main" id="{7EC47259-887A-FD48-989C-42BC5A3C9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51" name="Freeform 43">
              <a:extLst>
                <a:ext uri="{FF2B5EF4-FFF2-40B4-BE49-F238E27FC236}">
                  <a16:creationId xmlns:a16="http://schemas.microsoft.com/office/drawing/2014/main" id="{16E261C3-18BE-934F-8A2B-59BE70AE2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52" name="Freeform 44">
              <a:extLst>
                <a:ext uri="{FF2B5EF4-FFF2-40B4-BE49-F238E27FC236}">
                  <a16:creationId xmlns:a16="http://schemas.microsoft.com/office/drawing/2014/main" id="{35A2267B-0862-A24E-87D2-6CE5187CF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53" name="Freeform 45">
              <a:extLst>
                <a:ext uri="{FF2B5EF4-FFF2-40B4-BE49-F238E27FC236}">
                  <a16:creationId xmlns:a16="http://schemas.microsoft.com/office/drawing/2014/main" id="{A404A0DE-A076-8C4E-B8D4-EBC945337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54" name="Freeform 53">
              <a:extLst>
                <a:ext uri="{FF2B5EF4-FFF2-40B4-BE49-F238E27FC236}">
                  <a16:creationId xmlns:a16="http://schemas.microsoft.com/office/drawing/2014/main" id="{9EED6D73-C275-3347-BB66-C83964257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DA9C658-C24D-8F4B-EC3A-7B677D6B8841}"/>
              </a:ext>
            </a:extLst>
          </p:cNvPr>
          <p:cNvSpPr txBox="1"/>
          <p:nvPr/>
        </p:nvSpPr>
        <p:spPr>
          <a:xfrm>
            <a:off x="201216" y="1622902"/>
            <a:ext cx="448369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Contexto</a:t>
            </a:r>
            <a:r>
              <a:rPr lang="en-US" b="1" dirty="0"/>
              <a:t>:</a:t>
            </a:r>
            <a:r>
              <a:rPr lang="en-US" dirty="0"/>
              <a:t> La </a:t>
            </a:r>
            <a:r>
              <a:rPr lang="en-US" dirty="0" err="1"/>
              <a:t>humanidad</a:t>
            </a:r>
            <a:r>
              <a:rPr lang="en-US" dirty="0"/>
              <a:t> </a:t>
            </a:r>
            <a:r>
              <a:rPr lang="en-US" dirty="0" err="1"/>
              <a:t>tuvo</a:t>
            </a:r>
            <a:r>
              <a:rPr lang="en-US" dirty="0"/>
              <a:t> que </a:t>
            </a:r>
            <a:r>
              <a:rPr lang="en-US" dirty="0" err="1"/>
              <a:t>abandonar</a:t>
            </a:r>
            <a:r>
              <a:rPr lang="en-US" dirty="0"/>
              <a:t> la Tierra y </a:t>
            </a:r>
            <a:r>
              <a:rPr lang="en-US" dirty="0" err="1"/>
              <a:t>vive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naves </a:t>
            </a:r>
            <a:r>
              <a:rPr lang="en-US" dirty="0" err="1"/>
              <a:t>espaciales</a:t>
            </a:r>
            <a:r>
              <a:rPr lang="en-US" dirty="0"/>
              <a:t>, </a:t>
            </a:r>
            <a:r>
              <a:rPr lang="en-US" dirty="0" err="1"/>
              <a:t>porque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planeta</a:t>
            </a:r>
            <a:r>
              <a:rPr lang="en-US" dirty="0"/>
              <a:t> </a:t>
            </a:r>
            <a:r>
              <a:rPr lang="en-US" dirty="0" err="1"/>
              <a:t>quedó</a:t>
            </a:r>
            <a:r>
              <a:rPr lang="en-US" dirty="0"/>
              <a:t> inhabitable.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 err="1"/>
              <a:t>Mensaje</a:t>
            </a:r>
            <a:r>
              <a:rPr lang="en-US" b="1" dirty="0"/>
              <a:t> central:</a:t>
            </a:r>
            <a:r>
              <a:rPr lang="en-US" dirty="0"/>
              <a:t> </a:t>
            </a:r>
            <a:r>
              <a:rPr lang="en-US" dirty="0" err="1"/>
              <a:t>Restaurar</a:t>
            </a:r>
            <a:r>
              <a:rPr lang="en-US" dirty="0"/>
              <a:t> la </a:t>
            </a:r>
            <a:r>
              <a:rPr lang="en-US" dirty="0" err="1"/>
              <a:t>vida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Tierra </a:t>
            </a:r>
            <a:r>
              <a:rPr lang="en-US" dirty="0" err="1"/>
              <a:t>depende</a:t>
            </a:r>
            <a:r>
              <a:rPr lang="en-US" dirty="0"/>
              <a:t> de </a:t>
            </a:r>
            <a:r>
              <a:rPr lang="en-US" dirty="0" err="1"/>
              <a:t>creatividad</a:t>
            </a:r>
            <a:r>
              <a:rPr lang="en-US" dirty="0"/>
              <a:t>, </a:t>
            </a:r>
            <a:r>
              <a:rPr lang="en-US" dirty="0" err="1"/>
              <a:t>pequeñas</a:t>
            </a:r>
            <a:r>
              <a:rPr lang="en-US" dirty="0"/>
              <a:t> </a:t>
            </a:r>
            <a:r>
              <a:rPr lang="en-US" dirty="0" err="1"/>
              <a:t>acciones</a:t>
            </a:r>
            <a:r>
              <a:rPr lang="en-US" dirty="0"/>
              <a:t> y </a:t>
            </a:r>
            <a:r>
              <a:rPr lang="en-US" dirty="0" err="1"/>
              <a:t>decisiones</a:t>
            </a:r>
            <a:r>
              <a:rPr lang="en-US" dirty="0"/>
              <a:t> </a:t>
            </a:r>
            <a:r>
              <a:rPr lang="en-US" dirty="0" err="1"/>
              <a:t>colectivas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hlinkClick r:id="rId3"/>
              </a:rPr>
              <a:t>https://youtu.be/qGBZWbg_26A?si=pGLFRGYjGMw0EFM0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3C0BA8-C5F4-EE1D-EE8D-06B90AFA1645}"/>
              </a:ext>
            </a:extLst>
          </p:cNvPr>
          <p:cNvSpPr txBox="1"/>
          <p:nvPr/>
        </p:nvSpPr>
        <p:spPr>
          <a:xfrm>
            <a:off x="565150" y="5656044"/>
            <a:ext cx="6098058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“</a:t>
            </a: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-webkit-standard"/>
              </a:rPr>
              <a:t>Convocatoria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 </a:t>
            </a: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-webkit-standard"/>
              </a:rPr>
              <a:t>desde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 la nave Axiom: </a:t>
            </a: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-webkit-standard"/>
              </a:rPr>
              <a:t>presenta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 </a:t>
            </a: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-webkit-standard"/>
              </a:rPr>
              <a:t>tu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 </a:t>
            </a: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-webkit-standard"/>
              </a:rPr>
              <a:t>proyecto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 de 3–4 </a:t>
            </a: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-webkit-standard"/>
              </a:rPr>
              <a:t>minutos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 para </a:t>
            </a: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-webkit-standard"/>
              </a:rPr>
              <a:t>salvar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 la Tierra. Solo las </a:t>
            </a: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-webkit-standard"/>
              </a:rPr>
              <a:t>propuestas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 </a:t>
            </a: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-webkit-standard"/>
              </a:rPr>
              <a:t>más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 </a:t>
            </a: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-webkit-standard"/>
              </a:rPr>
              <a:t>creativas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 </a:t>
            </a: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-webkit-standard"/>
              </a:rPr>
              <a:t>recibirán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 </a:t>
            </a: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-webkit-standard"/>
              </a:rPr>
              <a:t>inversión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 </a:t>
            </a: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-webkit-standard"/>
              </a:rPr>
              <a:t>intergaláctica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-webkit-standard"/>
              </a:rPr>
              <a:t>.”</a:t>
            </a:r>
            <a:endParaRPr lang="en-CO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93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548" name="Rectangle 22547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C36914-5C7A-79D4-556B-353E4B022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90" y="4294207"/>
            <a:ext cx="4904007" cy="231659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Shark Tank </a:t>
            </a:r>
            <a:r>
              <a:rPr lang="en-US" sz="4400" dirty="0" err="1"/>
              <a:t>Intergaláctico</a:t>
            </a:r>
            <a:r>
              <a:rPr lang="en-US" sz="4400" dirty="0"/>
              <a:t>: Proyecto Wall-E</a:t>
            </a:r>
            <a:endParaRPr lang="en-CO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E818D-778C-3AB0-13D8-A58E79639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060" y="4164282"/>
            <a:ext cx="7030994" cy="2446563"/>
          </a:xfrm>
        </p:spPr>
        <p:txBody>
          <a:bodyPr anchor="b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Los </a:t>
            </a:r>
            <a:r>
              <a:rPr lang="en-US" sz="1200" dirty="0" err="1"/>
              <a:t>participantes</a:t>
            </a:r>
            <a:r>
              <a:rPr lang="en-US" sz="1200" dirty="0"/>
              <a:t> </a:t>
            </a:r>
            <a:r>
              <a:rPr lang="en-US" sz="1200" dirty="0" err="1"/>
              <a:t>representan</a:t>
            </a:r>
            <a:r>
              <a:rPr lang="en-US" sz="1200" dirty="0"/>
              <a:t> a </a:t>
            </a:r>
            <a:r>
              <a:rPr lang="en-US" sz="1200" dirty="0" err="1"/>
              <a:t>equipos</a:t>
            </a:r>
            <a:r>
              <a:rPr lang="en-US" sz="1200" dirty="0"/>
              <a:t> de </a:t>
            </a:r>
            <a:r>
              <a:rPr lang="en-US" sz="1200" dirty="0" err="1"/>
              <a:t>científicos</a:t>
            </a:r>
            <a:r>
              <a:rPr lang="en-US" sz="1200" dirty="0"/>
              <a:t>, </a:t>
            </a:r>
            <a:r>
              <a:rPr lang="en-US" sz="1200" dirty="0" err="1"/>
              <a:t>innovadores</a:t>
            </a:r>
            <a:r>
              <a:rPr lang="en-US" sz="1200" dirty="0"/>
              <a:t> o </a:t>
            </a:r>
            <a:r>
              <a:rPr lang="en-US" sz="1200" dirty="0" err="1"/>
              <a:t>comunidades</a:t>
            </a:r>
            <a:r>
              <a:rPr lang="en-US" sz="1200" dirty="0"/>
              <a:t> que </a:t>
            </a:r>
            <a:r>
              <a:rPr lang="en-US" sz="1200" dirty="0" err="1"/>
              <a:t>reciben</a:t>
            </a:r>
            <a:r>
              <a:rPr lang="en-US" sz="1200" dirty="0"/>
              <a:t> un </a:t>
            </a:r>
            <a:r>
              <a:rPr lang="en-US" sz="1200" dirty="0" err="1"/>
              <a:t>llamado</a:t>
            </a:r>
            <a:r>
              <a:rPr lang="en-US" sz="1200" dirty="0"/>
              <a:t> </a:t>
            </a:r>
            <a:r>
              <a:rPr lang="en-US" sz="1200" dirty="0" err="1"/>
              <a:t>desde</a:t>
            </a:r>
            <a:r>
              <a:rPr lang="en-US" sz="1200" dirty="0"/>
              <a:t> la nave </a:t>
            </a:r>
            <a:r>
              <a:rPr lang="en-US" sz="1200" i="1" dirty="0"/>
              <a:t>Axiom</a:t>
            </a:r>
            <a:r>
              <a:rPr lang="en-US" sz="1200" dirty="0"/>
              <a:t>: ¡ha </a:t>
            </a:r>
            <a:r>
              <a:rPr lang="en-US" sz="1200" dirty="0" err="1"/>
              <a:t>llegado</a:t>
            </a:r>
            <a:r>
              <a:rPr lang="en-US" sz="1200" dirty="0"/>
              <a:t> la hora de </a:t>
            </a:r>
            <a:r>
              <a:rPr lang="en-US" sz="1200" dirty="0" err="1"/>
              <a:t>invertir</a:t>
            </a:r>
            <a:r>
              <a:rPr lang="en-US" sz="1200" dirty="0"/>
              <a:t> </a:t>
            </a:r>
            <a:r>
              <a:rPr lang="en-US" sz="1200" dirty="0" err="1"/>
              <a:t>en</a:t>
            </a:r>
            <a:r>
              <a:rPr lang="en-US" sz="1200" dirty="0"/>
              <a:t> </a:t>
            </a:r>
            <a:r>
              <a:rPr lang="en-US" sz="1200" dirty="0" err="1"/>
              <a:t>proyectos</a:t>
            </a:r>
            <a:r>
              <a:rPr lang="en-US" sz="1200" dirty="0"/>
              <a:t> que </a:t>
            </a:r>
            <a:r>
              <a:rPr lang="en-US" sz="1200" dirty="0" err="1"/>
              <a:t>puedan</a:t>
            </a:r>
            <a:r>
              <a:rPr lang="en-US" sz="1200" dirty="0"/>
              <a:t> </a:t>
            </a:r>
            <a:r>
              <a:rPr lang="en-US" sz="1200" dirty="0" err="1"/>
              <a:t>devolverle</a:t>
            </a:r>
            <a:r>
              <a:rPr lang="en-US" sz="1200" dirty="0"/>
              <a:t> la </a:t>
            </a:r>
            <a:r>
              <a:rPr lang="en-US" sz="1200" dirty="0" err="1"/>
              <a:t>vida</a:t>
            </a:r>
            <a:r>
              <a:rPr lang="en-US" sz="1200" dirty="0"/>
              <a:t> a la Tierra!</a:t>
            </a:r>
          </a:p>
          <a:p>
            <a:pPr>
              <a:lnSpc>
                <a:spcPct val="90000"/>
              </a:lnSpc>
            </a:pPr>
            <a:r>
              <a:rPr lang="en-US" sz="1200" b="1" dirty="0" err="1"/>
              <a:t>Problema</a:t>
            </a:r>
            <a:r>
              <a:rPr lang="en-US" sz="1200" b="1" dirty="0"/>
              <a:t> central</a:t>
            </a:r>
            <a:r>
              <a:rPr lang="en-US" sz="1200" dirty="0"/>
              <a:t> que </a:t>
            </a:r>
            <a:r>
              <a:rPr lang="en-US" sz="1200" dirty="0" err="1"/>
              <a:t>detectan</a:t>
            </a:r>
            <a:r>
              <a:rPr lang="en-US" sz="1200" dirty="0"/>
              <a:t> </a:t>
            </a:r>
            <a:r>
              <a:rPr lang="en-US" sz="1200" dirty="0" err="1"/>
              <a:t>en</a:t>
            </a:r>
            <a:r>
              <a:rPr lang="en-US" sz="1200" dirty="0"/>
              <a:t> la Tierra (</a:t>
            </a:r>
            <a:r>
              <a:rPr lang="en-US" sz="1200" dirty="0" err="1"/>
              <a:t>ej</a:t>
            </a:r>
            <a:r>
              <a:rPr lang="en-US" sz="1200" dirty="0"/>
              <a:t>. </a:t>
            </a:r>
            <a:r>
              <a:rPr lang="en-US" sz="1200" dirty="0" err="1"/>
              <a:t>contaminación</a:t>
            </a:r>
            <a:r>
              <a:rPr lang="en-US" sz="1200" dirty="0"/>
              <a:t>, </a:t>
            </a:r>
            <a:r>
              <a:rPr lang="en-US" sz="1200" dirty="0" err="1"/>
              <a:t>pérdida</a:t>
            </a:r>
            <a:r>
              <a:rPr lang="en-US" sz="1200" dirty="0"/>
              <a:t> de </a:t>
            </a:r>
            <a:r>
              <a:rPr lang="en-US" sz="1200" dirty="0" err="1"/>
              <a:t>biodiversidad</a:t>
            </a:r>
            <a:r>
              <a:rPr lang="en-US" sz="1200" dirty="0"/>
              <a:t>, </a:t>
            </a:r>
            <a:r>
              <a:rPr lang="en-US" sz="1200" dirty="0" err="1"/>
              <a:t>dependencia</a:t>
            </a:r>
            <a:r>
              <a:rPr lang="en-US" sz="1200" dirty="0"/>
              <a:t> </a:t>
            </a:r>
            <a:r>
              <a:rPr lang="en-US" sz="1200" dirty="0" err="1"/>
              <a:t>tecnológica</a:t>
            </a:r>
            <a:r>
              <a:rPr lang="en-US" sz="1200" dirty="0"/>
              <a:t>).</a:t>
            </a:r>
          </a:p>
          <a:p>
            <a:pPr>
              <a:lnSpc>
                <a:spcPct val="90000"/>
              </a:lnSpc>
            </a:pPr>
            <a:r>
              <a:rPr lang="en-US" sz="1200" b="1" dirty="0" err="1"/>
              <a:t>Solución</a:t>
            </a:r>
            <a:r>
              <a:rPr lang="en-US" sz="1200" b="1" dirty="0"/>
              <a:t> </a:t>
            </a:r>
            <a:r>
              <a:rPr lang="en-US" sz="1200" b="1" dirty="0" err="1"/>
              <a:t>innovadora</a:t>
            </a:r>
            <a:r>
              <a:rPr lang="en-US" sz="1200" dirty="0"/>
              <a:t> (</a:t>
            </a:r>
            <a:r>
              <a:rPr lang="en-US" sz="1200" dirty="0" err="1"/>
              <a:t>ej</a:t>
            </a:r>
            <a:r>
              <a:rPr lang="en-US" sz="1200" dirty="0"/>
              <a:t>. robots </a:t>
            </a:r>
            <a:r>
              <a:rPr lang="en-US" sz="1200" dirty="0" err="1"/>
              <a:t>recolectores</a:t>
            </a:r>
            <a:r>
              <a:rPr lang="en-US" sz="1200" dirty="0"/>
              <a:t> </a:t>
            </a:r>
            <a:r>
              <a:rPr lang="en-US" sz="1200" dirty="0" err="1"/>
              <a:t>inteligentes</a:t>
            </a:r>
            <a:r>
              <a:rPr lang="en-US" sz="1200" dirty="0"/>
              <a:t>, bio-</a:t>
            </a:r>
            <a:r>
              <a:rPr lang="en-US" sz="1200" dirty="0" err="1"/>
              <a:t>ciudades</a:t>
            </a:r>
            <a:r>
              <a:rPr lang="en-US" sz="1200" dirty="0"/>
              <a:t> </a:t>
            </a:r>
            <a:r>
              <a:rPr lang="en-US" sz="1200" dirty="0" err="1"/>
              <a:t>autosostenibles</a:t>
            </a:r>
            <a:r>
              <a:rPr lang="en-US" sz="1200" dirty="0"/>
              <a:t>, </a:t>
            </a:r>
            <a:r>
              <a:rPr lang="en-US" sz="1200" dirty="0" err="1"/>
              <a:t>educación</a:t>
            </a:r>
            <a:r>
              <a:rPr lang="en-US" sz="1200" dirty="0"/>
              <a:t> </a:t>
            </a:r>
            <a:r>
              <a:rPr lang="en-US" sz="1200" dirty="0" err="1"/>
              <a:t>regenerativa</a:t>
            </a:r>
            <a:r>
              <a:rPr lang="en-US" sz="1200" dirty="0"/>
              <a:t>).</a:t>
            </a:r>
          </a:p>
          <a:p>
            <a:pPr>
              <a:lnSpc>
                <a:spcPct val="90000"/>
              </a:lnSpc>
            </a:pPr>
            <a:r>
              <a:rPr lang="en-US" sz="1200" b="1" dirty="0" err="1"/>
              <a:t>Beneficiarios</a:t>
            </a:r>
            <a:r>
              <a:rPr lang="en-US" sz="1200" b="1" dirty="0"/>
              <a:t> </a:t>
            </a:r>
            <a:r>
              <a:rPr lang="en-US" sz="1200" b="1" dirty="0" err="1"/>
              <a:t>directos</a:t>
            </a:r>
            <a:r>
              <a:rPr lang="en-US" sz="1200" dirty="0"/>
              <a:t> (</a:t>
            </a:r>
            <a:r>
              <a:rPr lang="en-US" sz="1200" dirty="0" err="1"/>
              <a:t>humanidad</a:t>
            </a:r>
            <a:r>
              <a:rPr lang="en-US" sz="1200" dirty="0"/>
              <a:t>, </a:t>
            </a:r>
            <a:r>
              <a:rPr lang="en-US" sz="1200" dirty="0" err="1"/>
              <a:t>nuevas</a:t>
            </a:r>
            <a:r>
              <a:rPr lang="en-US" sz="1200" dirty="0"/>
              <a:t> </a:t>
            </a:r>
            <a:r>
              <a:rPr lang="en-US" sz="1200" dirty="0" err="1"/>
              <a:t>generaciones</a:t>
            </a:r>
            <a:r>
              <a:rPr lang="en-US" sz="1200" dirty="0"/>
              <a:t>, </a:t>
            </a:r>
            <a:r>
              <a:rPr lang="en-US" sz="1200" dirty="0" err="1"/>
              <a:t>ecosistemas</a:t>
            </a:r>
            <a:r>
              <a:rPr lang="en-US" sz="1200" dirty="0"/>
              <a:t>).</a:t>
            </a:r>
          </a:p>
          <a:p>
            <a:pPr>
              <a:lnSpc>
                <a:spcPct val="90000"/>
              </a:lnSpc>
            </a:pPr>
            <a:r>
              <a:rPr lang="en-US" sz="1200" b="1" dirty="0" err="1"/>
              <a:t>Recursos</a:t>
            </a:r>
            <a:r>
              <a:rPr lang="en-US" sz="1200" b="1" dirty="0"/>
              <a:t> </a:t>
            </a:r>
            <a:r>
              <a:rPr lang="en-US" sz="1200" b="1" dirty="0" err="1"/>
              <a:t>requeridos</a:t>
            </a:r>
            <a:r>
              <a:rPr lang="en-US" sz="1200" dirty="0"/>
              <a:t> (</a:t>
            </a:r>
            <a:r>
              <a:rPr lang="en-US" sz="1200" dirty="0" err="1"/>
              <a:t>créditos</a:t>
            </a:r>
            <a:r>
              <a:rPr lang="en-US" sz="1200" dirty="0"/>
              <a:t> </a:t>
            </a:r>
            <a:r>
              <a:rPr lang="en-US" sz="1200" dirty="0" err="1"/>
              <a:t>galácticos</a:t>
            </a:r>
            <a:r>
              <a:rPr lang="en-US" sz="1200" dirty="0"/>
              <a:t>, robots </a:t>
            </a:r>
            <a:r>
              <a:rPr lang="en-US" sz="1200" dirty="0" err="1"/>
              <a:t>aliados</a:t>
            </a:r>
            <a:r>
              <a:rPr lang="en-US" sz="1200" dirty="0"/>
              <a:t>, </a:t>
            </a:r>
            <a:r>
              <a:rPr lang="en-US" sz="1200" dirty="0" err="1"/>
              <a:t>saberes</a:t>
            </a:r>
            <a:r>
              <a:rPr lang="en-US" sz="1200" dirty="0"/>
              <a:t> </a:t>
            </a:r>
            <a:r>
              <a:rPr lang="en-US" sz="1200" dirty="0" err="1"/>
              <a:t>humanos</a:t>
            </a:r>
            <a:r>
              <a:rPr lang="en-US" sz="1200" dirty="0"/>
              <a:t>).</a:t>
            </a:r>
          </a:p>
          <a:p>
            <a:pPr>
              <a:lnSpc>
                <a:spcPct val="90000"/>
              </a:lnSpc>
            </a:pPr>
            <a:r>
              <a:rPr lang="en-US" sz="1200" b="1" dirty="0"/>
              <a:t>Impacto </a:t>
            </a:r>
            <a:r>
              <a:rPr lang="en-US" sz="1200" b="1" dirty="0" err="1"/>
              <a:t>esperado</a:t>
            </a:r>
            <a:r>
              <a:rPr lang="en-US" sz="1200" dirty="0"/>
              <a:t> (</a:t>
            </a:r>
            <a:r>
              <a:rPr lang="en-US" sz="1200" dirty="0" err="1"/>
              <a:t>plazos</a:t>
            </a:r>
            <a:r>
              <a:rPr lang="en-US" sz="1200" dirty="0"/>
              <a:t>, </a:t>
            </a:r>
            <a:r>
              <a:rPr lang="en-US" sz="1200" dirty="0" err="1"/>
              <a:t>indicadores</a:t>
            </a:r>
            <a:r>
              <a:rPr lang="en-US" sz="1200" dirty="0"/>
              <a:t> de </a:t>
            </a:r>
            <a:r>
              <a:rPr lang="en-US" sz="1200" dirty="0" err="1"/>
              <a:t>recuperación</a:t>
            </a:r>
            <a:r>
              <a:rPr lang="en-US" sz="1200" dirty="0"/>
              <a:t>).</a:t>
            </a:r>
          </a:p>
          <a:p>
            <a:pPr>
              <a:lnSpc>
                <a:spcPct val="90000"/>
              </a:lnSpc>
            </a:pPr>
            <a:r>
              <a:rPr lang="en-US" sz="1200" b="1" dirty="0" err="1"/>
              <a:t>Evaluación</a:t>
            </a:r>
            <a:r>
              <a:rPr lang="en-US" sz="1200" b="1" dirty="0"/>
              <a:t>:</a:t>
            </a:r>
            <a:r>
              <a:rPr lang="en-US" sz="1200" dirty="0"/>
              <a:t> </a:t>
            </a:r>
            <a:r>
              <a:rPr lang="en-US" sz="1200" dirty="0" err="1"/>
              <a:t>creatividad</a:t>
            </a:r>
            <a:r>
              <a:rPr lang="en-US" sz="1200" dirty="0"/>
              <a:t>, </a:t>
            </a:r>
            <a:r>
              <a:rPr lang="en-US" sz="1200" dirty="0" err="1"/>
              <a:t>viabilidad</a:t>
            </a:r>
            <a:r>
              <a:rPr lang="en-US" sz="1200" dirty="0"/>
              <a:t>, </a:t>
            </a:r>
            <a:r>
              <a:rPr lang="en-US" sz="1200" dirty="0" err="1"/>
              <a:t>impacto</a:t>
            </a:r>
            <a:r>
              <a:rPr lang="en-US" sz="1200" dirty="0"/>
              <a:t>, </a:t>
            </a:r>
            <a:r>
              <a:rPr lang="en-US" sz="1200" dirty="0" err="1"/>
              <a:t>coherencia</a:t>
            </a:r>
            <a:r>
              <a:rPr lang="en-US" sz="1200" dirty="0"/>
              <a:t>.</a:t>
            </a:r>
          </a:p>
        </p:txBody>
      </p:sp>
      <p:pic>
        <p:nvPicPr>
          <p:cNvPr id="22532" name="Picture 4" descr="Wall-E: Exploring Environmental Themes | Conservation, Environment, Climate  Change and Sustainable Development">
            <a:extLst>
              <a:ext uri="{FF2B5EF4-FFF2-40B4-BE49-F238E27FC236}">
                <a16:creationId xmlns:a16="http://schemas.microsoft.com/office/drawing/2014/main" id="{9F76BA58-0581-BF0C-7C24-B697E8FA7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7" b="20131"/>
          <a:stretch>
            <a:fillRect/>
          </a:stretch>
        </p:blipFill>
        <p:spPr bwMode="auto">
          <a:xfrm>
            <a:off x="0" y="-1"/>
            <a:ext cx="12192001" cy="4047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550" name="Group 22549">
            <a:extLst>
              <a:ext uri="{FF2B5EF4-FFF2-40B4-BE49-F238E27FC236}">
                <a16:creationId xmlns:a16="http://schemas.microsoft.com/office/drawing/2014/main" id="{05ADD15B-C747-D340-BF8A-A1DD2A6A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22551" name="Freeform 53">
              <a:extLst>
                <a:ext uri="{FF2B5EF4-FFF2-40B4-BE49-F238E27FC236}">
                  <a16:creationId xmlns:a16="http://schemas.microsoft.com/office/drawing/2014/main" id="{0B0B662E-0152-FD4E-B468-3F3593C15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552" name="Freeform 55">
              <a:extLst>
                <a:ext uri="{FF2B5EF4-FFF2-40B4-BE49-F238E27FC236}">
                  <a16:creationId xmlns:a16="http://schemas.microsoft.com/office/drawing/2014/main" id="{81BFFC99-6B9D-F240-BD39-160F4C573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553" name="Freeform 57">
              <a:extLst>
                <a:ext uri="{FF2B5EF4-FFF2-40B4-BE49-F238E27FC236}">
                  <a16:creationId xmlns:a16="http://schemas.microsoft.com/office/drawing/2014/main" id="{4DC6AEB9-EEFF-D243-AEE2-42D0F9E53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554" name="Freeform 58">
              <a:extLst>
                <a:ext uri="{FF2B5EF4-FFF2-40B4-BE49-F238E27FC236}">
                  <a16:creationId xmlns:a16="http://schemas.microsoft.com/office/drawing/2014/main" id="{D89DA958-651D-0049-A549-A9D22E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2556" name="Straight Connector 22555">
            <a:extLst>
              <a:ext uri="{FF2B5EF4-FFF2-40B4-BE49-F238E27FC236}">
                <a16:creationId xmlns:a16="http://schemas.microsoft.com/office/drawing/2014/main" id="{1FE039F1-6D47-C642-B506-452A83B0A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8060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9" name="Group 28678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28680" name="Oval 28679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81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682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683" name="Oval 28682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84" name="Oval 28683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85" name="Oval 28684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86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687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688" name="Oval 28687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89" name="Oval 28688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90" name="Oval 28689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91" name="Oval 28690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92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693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694" name="Oval 28693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95" name="Oval 28694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96" name="Oval 28695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97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698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699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700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701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702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703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8705" name="Straight Connector 28704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707" name="Rectangle 28706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674" name="Picture 2" descr="Imágenes de Crecer libres de derechos | Depositphotos">
            <a:extLst>
              <a:ext uri="{FF2B5EF4-FFF2-40B4-BE49-F238E27FC236}">
                <a16:creationId xmlns:a16="http://schemas.microsoft.com/office/drawing/2014/main" id="{0AC357D3-1626-309E-4322-9D324A031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709" name="Rectangle">
            <a:extLst>
              <a:ext uri="{FF2B5EF4-FFF2-40B4-BE49-F238E27FC236}">
                <a16:creationId xmlns:a16="http://schemas.microsoft.com/office/drawing/2014/main" id="{8B80D579-AC08-8D49-BB6A-21123F80B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8469492" cy="6858000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4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D52A5-32C2-4A13-230C-60617748F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96" y="770889"/>
            <a:ext cx="7904341" cy="394725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“</a:t>
            </a:r>
            <a:r>
              <a:rPr lang="en-US" sz="3600" b="0" dirty="0" err="1"/>
              <a:t>Aprender</a:t>
            </a:r>
            <a:r>
              <a:rPr lang="en-US" sz="3600" b="0" dirty="0"/>
              <a:t> es </a:t>
            </a:r>
            <a:r>
              <a:rPr lang="en-US" sz="3600" b="0" dirty="0" err="1"/>
              <a:t>comenzar</a:t>
            </a:r>
            <a:r>
              <a:rPr lang="en-US" sz="3600" b="0" dirty="0"/>
              <a:t>…, </a:t>
            </a:r>
            <a:br>
              <a:rPr lang="en-US" sz="3600" b="0" dirty="0"/>
            </a:br>
            <a:r>
              <a:rPr lang="en-US" sz="3600" b="0" dirty="0" err="1"/>
              <a:t>hacer</a:t>
            </a:r>
            <a:r>
              <a:rPr lang="en-US" sz="3600" b="0" dirty="0"/>
              <a:t> es </a:t>
            </a:r>
            <a:r>
              <a:rPr lang="en-US" sz="3600" b="0" dirty="0" err="1"/>
              <a:t>avanzar</a:t>
            </a:r>
            <a:r>
              <a:rPr lang="en-US" sz="3600" b="0" dirty="0"/>
              <a:t>…, </a:t>
            </a:r>
            <a:br>
              <a:rPr lang="en-US" sz="3600" b="0" dirty="0"/>
            </a:br>
            <a:r>
              <a:rPr lang="en-US" sz="3600" b="0" dirty="0" err="1"/>
              <a:t>errar</a:t>
            </a:r>
            <a:r>
              <a:rPr lang="en-US" sz="3600" b="0" dirty="0"/>
              <a:t> es </a:t>
            </a:r>
            <a:r>
              <a:rPr lang="en-US" sz="3600" b="0" dirty="0" err="1"/>
              <a:t>crecer</a:t>
            </a:r>
            <a:r>
              <a:rPr lang="en-US" sz="3600" b="0" dirty="0"/>
              <a:t>…, </a:t>
            </a:r>
            <a:br>
              <a:rPr lang="en-US" sz="3600" b="0" dirty="0"/>
            </a:br>
            <a:r>
              <a:rPr lang="en-US" sz="3600" b="0" dirty="0"/>
              <a:t>y </a:t>
            </a:r>
            <a:r>
              <a:rPr lang="en-US" sz="3600" b="0" dirty="0" err="1"/>
              <a:t>perseverar</a:t>
            </a:r>
            <a:r>
              <a:rPr lang="en-US" sz="3600" b="0" dirty="0"/>
              <a:t> es </a:t>
            </a:r>
            <a:r>
              <a:rPr lang="en-US" sz="3600" b="0" dirty="0" err="1"/>
              <a:t>vencer</a:t>
            </a:r>
            <a:r>
              <a:rPr lang="en-US" sz="3600" b="0" dirty="0"/>
              <a:t>…; </a:t>
            </a:r>
            <a:br>
              <a:rPr lang="en-US" sz="3600" dirty="0"/>
            </a:br>
            <a:r>
              <a:rPr lang="en-US" sz="3600" dirty="0" err="1"/>
              <a:t>cada</a:t>
            </a:r>
            <a:r>
              <a:rPr lang="en-US" sz="3600" dirty="0"/>
              <a:t> paso que das </a:t>
            </a:r>
            <a:r>
              <a:rPr lang="en-US" sz="3600" dirty="0" err="1"/>
              <a:t>te</a:t>
            </a:r>
            <a:r>
              <a:rPr lang="en-US" sz="3600" dirty="0"/>
              <a:t> </a:t>
            </a:r>
            <a:r>
              <a:rPr lang="en-US" sz="3600" dirty="0" err="1"/>
              <a:t>acerca</a:t>
            </a:r>
            <a:r>
              <a:rPr lang="en-US" sz="3600" dirty="0"/>
              <a:t> </a:t>
            </a:r>
            <a:r>
              <a:rPr lang="en-US" sz="3600" dirty="0" err="1"/>
              <a:t>más</a:t>
            </a:r>
            <a:r>
              <a:rPr lang="en-US" sz="3600" dirty="0"/>
              <a:t> a lo que </a:t>
            </a:r>
            <a:r>
              <a:rPr lang="en-US" sz="3600" dirty="0" err="1"/>
              <a:t>sueñas</a:t>
            </a:r>
            <a:r>
              <a:rPr lang="en-US" sz="3600" dirty="0"/>
              <a:t> ser.”</a:t>
            </a:r>
          </a:p>
        </p:txBody>
      </p:sp>
      <p:cxnSp>
        <p:nvCxnSpPr>
          <p:cNvPr id="28711" name="Straight Connector 28710">
            <a:extLst>
              <a:ext uri="{FF2B5EF4-FFF2-40B4-BE49-F238E27FC236}">
                <a16:creationId xmlns:a16="http://schemas.microsoft.com/office/drawing/2014/main" id="{EC392F51-F23E-E242-9750-A5B1F128E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713" name="Group 28712">
            <a:extLst>
              <a:ext uri="{FF2B5EF4-FFF2-40B4-BE49-F238E27FC236}">
                <a16:creationId xmlns:a16="http://schemas.microsoft.com/office/drawing/2014/main" id="{44406D7A-DB1A-D940-8AD1-93FAF9DD7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28714" name="Freeform 40">
              <a:extLst>
                <a:ext uri="{FF2B5EF4-FFF2-40B4-BE49-F238E27FC236}">
                  <a16:creationId xmlns:a16="http://schemas.microsoft.com/office/drawing/2014/main" id="{D0F85DF7-431B-BE45-B932-0E22FC3F8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715" name="Freeform 41">
              <a:extLst>
                <a:ext uri="{FF2B5EF4-FFF2-40B4-BE49-F238E27FC236}">
                  <a16:creationId xmlns:a16="http://schemas.microsoft.com/office/drawing/2014/main" id="{BEA0AA89-2965-2A44-B84E-51C748B2D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716" name="Freeform 42">
              <a:extLst>
                <a:ext uri="{FF2B5EF4-FFF2-40B4-BE49-F238E27FC236}">
                  <a16:creationId xmlns:a16="http://schemas.microsoft.com/office/drawing/2014/main" id="{7EC47259-887A-FD48-989C-42BC5A3C9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717" name="Freeform 43">
              <a:extLst>
                <a:ext uri="{FF2B5EF4-FFF2-40B4-BE49-F238E27FC236}">
                  <a16:creationId xmlns:a16="http://schemas.microsoft.com/office/drawing/2014/main" id="{16E261C3-18BE-934F-8A2B-59BE70AE2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718" name="Freeform 44">
              <a:extLst>
                <a:ext uri="{FF2B5EF4-FFF2-40B4-BE49-F238E27FC236}">
                  <a16:creationId xmlns:a16="http://schemas.microsoft.com/office/drawing/2014/main" id="{35A2267B-0862-A24E-87D2-6CE5187CF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719" name="Freeform 45">
              <a:extLst>
                <a:ext uri="{FF2B5EF4-FFF2-40B4-BE49-F238E27FC236}">
                  <a16:creationId xmlns:a16="http://schemas.microsoft.com/office/drawing/2014/main" id="{A404A0DE-A076-8C4E-B8D4-EBC945337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720" name="Freeform 53">
              <a:extLst>
                <a:ext uri="{FF2B5EF4-FFF2-40B4-BE49-F238E27FC236}">
                  <a16:creationId xmlns:a16="http://schemas.microsoft.com/office/drawing/2014/main" id="{9EED6D73-C275-3347-BB66-C83964257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63939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61" name="Group 23560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23562" name="Oval 23561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63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564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565" name="Oval 23564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66" name="Oval 23565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67" name="Oval 23566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68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569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570" name="Oval 23569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71" name="Oval 23570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72" name="Oval 23571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73" name="Oval 23572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74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575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576" name="Oval 23575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77" name="Oval 23576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78" name="Oval 23577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79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580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581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582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583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584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585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3587" name="Straight Connector 23586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589" name="Rectangle 2358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556" name="Picture 4" descr="Why saying 'Thanks' matters more than you might think - Christian Muntean">
            <a:extLst>
              <a:ext uri="{FF2B5EF4-FFF2-40B4-BE49-F238E27FC236}">
                <a16:creationId xmlns:a16="http://schemas.microsoft.com/office/drawing/2014/main" id="{014BE766-C117-4EC5-76A8-541D489A3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97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91" name="Rectangle">
            <a:extLst>
              <a:ext uri="{FF2B5EF4-FFF2-40B4-BE49-F238E27FC236}">
                <a16:creationId xmlns:a16="http://schemas.microsoft.com/office/drawing/2014/main" id="{B4F75AE3-A3AC-DE4C-98FE-EC9DC3BF8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628393"/>
            <a:ext cx="6155707" cy="3601213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4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414998-00FC-C1A8-E904-A98E1F023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2035840"/>
            <a:ext cx="5022050" cy="17185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Gracias…</a:t>
            </a:r>
          </a:p>
        </p:txBody>
      </p:sp>
      <p:grpSp>
        <p:nvGrpSpPr>
          <p:cNvPr id="23593" name="Group 23592">
            <a:extLst>
              <a:ext uri="{FF2B5EF4-FFF2-40B4-BE49-F238E27FC236}">
                <a16:creationId xmlns:a16="http://schemas.microsoft.com/office/drawing/2014/main" id="{44406D7A-DB1A-D940-8AD1-93FAF9DD7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23594" name="Freeform 40">
              <a:extLst>
                <a:ext uri="{FF2B5EF4-FFF2-40B4-BE49-F238E27FC236}">
                  <a16:creationId xmlns:a16="http://schemas.microsoft.com/office/drawing/2014/main" id="{D0F85DF7-431B-BE45-B932-0E22FC3F8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595" name="Freeform 41">
              <a:extLst>
                <a:ext uri="{FF2B5EF4-FFF2-40B4-BE49-F238E27FC236}">
                  <a16:creationId xmlns:a16="http://schemas.microsoft.com/office/drawing/2014/main" id="{BEA0AA89-2965-2A44-B84E-51C748B2D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596" name="Freeform 42">
              <a:extLst>
                <a:ext uri="{FF2B5EF4-FFF2-40B4-BE49-F238E27FC236}">
                  <a16:creationId xmlns:a16="http://schemas.microsoft.com/office/drawing/2014/main" id="{7EC47259-887A-FD48-989C-42BC5A3C9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597" name="Freeform 43">
              <a:extLst>
                <a:ext uri="{FF2B5EF4-FFF2-40B4-BE49-F238E27FC236}">
                  <a16:creationId xmlns:a16="http://schemas.microsoft.com/office/drawing/2014/main" id="{16E261C3-18BE-934F-8A2B-59BE70AE2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598" name="Freeform 44">
              <a:extLst>
                <a:ext uri="{FF2B5EF4-FFF2-40B4-BE49-F238E27FC236}">
                  <a16:creationId xmlns:a16="http://schemas.microsoft.com/office/drawing/2014/main" id="{35A2267B-0862-A24E-87D2-6CE5187CF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599" name="Freeform 45">
              <a:extLst>
                <a:ext uri="{FF2B5EF4-FFF2-40B4-BE49-F238E27FC236}">
                  <a16:creationId xmlns:a16="http://schemas.microsoft.com/office/drawing/2014/main" id="{A404A0DE-A076-8C4E-B8D4-EBC945337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600" name="Freeform 53">
              <a:extLst>
                <a:ext uri="{FF2B5EF4-FFF2-40B4-BE49-F238E27FC236}">
                  <a16:creationId xmlns:a16="http://schemas.microsoft.com/office/drawing/2014/main" id="{9EED6D73-C275-3347-BB66-C83964257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699773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032" name="Oval 1031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4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5" name="Oval 1034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Oval 1035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9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Oval 1040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Oval 1042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5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6" name="Oval 1045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Oval 1046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" name="Oval 1047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9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0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1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2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3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4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5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057" name="Straight Connector 1056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59" name="Rectangle 105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E02E15-00C6-43A7-DFD2-502ED0972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34"/>
            <a:ext cx="4134537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…Asistencia….</a:t>
            </a:r>
          </a:p>
        </p:txBody>
      </p:sp>
      <p:grpSp>
        <p:nvGrpSpPr>
          <p:cNvPr id="1061" name="Group 1060">
            <a:extLst>
              <a:ext uri="{FF2B5EF4-FFF2-40B4-BE49-F238E27FC236}">
                <a16:creationId xmlns:a16="http://schemas.microsoft.com/office/drawing/2014/main" id="{665B630C-8A26-BF40-AD00-AAAB3F8DF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062" name="Freeform 85">
              <a:extLst>
                <a:ext uri="{FF2B5EF4-FFF2-40B4-BE49-F238E27FC236}">
                  <a16:creationId xmlns:a16="http://schemas.microsoft.com/office/drawing/2014/main" id="{47332152-49D9-5F42-9522-9424EDC70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3" name="Freeform 87">
              <a:extLst>
                <a:ext uri="{FF2B5EF4-FFF2-40B4-BE49-F238E27FC236}">
                  <a16:creationId xmlns:a16="http://schemas.microsoft.com/office/drawing/2014/main" id="{60C97C94-6942-C048-8F6F-55E05CBA1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4" name="Freeform 89">
              <a:extLst>
                <a:ext uri="{FF2B5EF4-FFF2-40B4-BE49-F238E27FC236}">
                  <a16:creationId xmlns:a16="http://schemas.microsoft.com/office/drawing/2014/main" id="{BD92967A-BFB2-E441-AC07-5997DDDD5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5" name="Freeform 100">
              <a:extLst>
                <a:ext uri="{FF2B5EF4-FFF2-40B4-BE49-F238E27FC236}">
                  <a16:creationId xmlns:a16="http://schemas.microsoft.com/office/drawing/2014/main" id="{DC25488D-5181-EC40-A6AC-862FC3787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067" name="Straight Connector 1066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B8926C1D-9F53-9357-CDC3-4712CC2E2D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77490" y="681645"/>
            <a:ext cx="5446965" cy="5486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286871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1817</Words>
  <Application>Microsoft Macintosh PowerPoint</Application>
  <PresentationFormat>Widescreen</PresentationFormat>
  <Paragraphs>119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-webkit-standard</vt:lpstr>
      <vt:lpstr>Aptos</vt:lpstr>
      <vt:lpstr>Arial</vt:lpstr>
      <vt:lpstr>Avenir Next</vt:lpstr>
      <vt:lpstr>Courier New</vt:lpstr>
      <vt:lpstr>Inter</vt:lpstr>
      <vt:lpstr>Muna</vt:lpstr>
      <vt:lpstr>Neue Haas Grotesk Text Pro</vt:lpstr>
      <vt:lpstr>PunchcardVTI</vt:lpstr>
      <vt:lpstr>Formulación de Proyectos</vt:lpstr>
      <vt:lpstr>Un poco de mi…</vt:lpstr>
      <vt:lpstr>Project formulations</vt:lpstr>
      <vt:lpstr>Tres frases célebres de contexto….</vt:lpstr>
      <vt:lpstr>“Los planes tienen poca importancia, pero la planeación es esencial...”</vt:lpstr>
      <vt:lpstr>“Los planes son de poca importancia, pero la planificación lo es todo.”</vt:lpstr>
      <vt:lpstr>“No conviene dejar un dragón vivo fuera de tus cálculos si vives cerca de uno...”</vt:lpstr>
      <vt:lpstr>“No conviene dejar un dragón vivo fuera de tus cálculos si vives cerca de uno.”</vt:lpstr>
      <vt:lpstr>“Un objetivo sin un plan es solo un deseo.”</vt:lpstr>
      <vt:lpstr>“Un objetivo sin un plan es solo un deseo.”</vt:lpstr>
      <vt:lpstr>…Para entrar en calor…</vt:lpstr>
      <vt:lpstr>...¿que aprender?...</vt:lpstr>
      <vt:lpstr>…para practicar y saber más…</vt:lpstr>
      <vt:lpstr>Propuesta de Proyecto: Concepto y Significado</vt:lpstr>
      <vt:lpstr>Pasos en la formulación de un proyecto</vt:lpstr>
      <vt:lpstr>Paso 0: Identificación del problema y definición inicial</vt:lpstr>
      <vt:lpstr>Paso 1: Revisión de propuestas anteriores</vt:lpstr>
      <vt:lpstr>Paso 2: Consulta con expertos y coordinadores previos</vt:lpstr>
      <vt:lpstr>Paso 3: Revisión de informes de evaluación de proyectos pasados</vt:lpstr>
      <vt:lpstr>Paso 4: Interacción con los posibles beneficiarios</vt:lpstr>
      <vt:lpstr>Paso 5: Revisión de datos estadísticos e informes</vt:lpstr>
      <vt:lpstr>Paso 6: Grupos focales con beneficiarios o actores clave</vt:lpstr>
      <vt:lpstr>Formato de una propuesta de proyecto</vt:lpstr>
      <vt:lpstr>Formato de una propuesta de proyecto</vt:lpstr>
      <vt:lpstr>PowerPoint Presentation</vt:lpstr>
      <vt:lpstr>¿y después que….? Sostenibilidad...</vt:lpstr>
      <vt:lpstr>Ejercicio práctico...</vt:lpstr>
      <vt:lpstr>Shark Tank:   Edición especial intergaláctico</vt:lpstr>
      <vt:lpstr>Wall-E (2008)</vt:lpstr>
      <vt:lpstr>Shark Tank Intergaláctico: Proyecto Wall-E</vt:lpstr>
      <vt:lpstr>“Aprender es comenzar…,  hacer es avanzar…,  errar es crecer…,  y perseverar es vencer…;  cada paso que das te acerca más a lo que sueñas ser.”</vt:lpstr>
      <vt:lpstr>Gracias…</vt:lpstr>
      <vt:lpstr>…Asistencia….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Sierra Porta</dc:creator>
  <cp:lastModifiedBy>David Sierra Porta</cp:lastModifiedBy>
  <cp:revision>16</cp:revision>
  <cp:lastPrinted>2025-09-05T18:32:15Z</cp:lastPrinted>
  <dcterms:created xsi:type="dcterms:W3CDTF">2025-09-05T12:57:55Z</dcterms:created>
  <dcterms:modified xsi:type="dcterms:W3CDTF">2026-09-05T01:25:29Z</dcterms:modified>
</cp:coreProperties>
</file>